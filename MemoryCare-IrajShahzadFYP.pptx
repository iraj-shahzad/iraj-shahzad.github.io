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9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93AAD6-7220-C9BA-ED59-BF85F2B56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B5BEAC70-3A8B-BD2E-86A2-1C1597CC72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829A882-AB46-1FF9-6350-0FB92E4F9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03FB-8387-4978-ABE4-1D889E89E277}" type="datetimeFigureOut">
              <a:rPr lang="en-PK" smtClean="0"/>
              <a:t>27/08/2026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2A84DAD-BB5E-81D9-497F-2A1E62D5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65CC988-B18D-B903-D229-0028F0985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B67C-B7FF-4DBC-A33D-A81C8F15106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43088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0B6F58-D247-8552-C191-54257152F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C59A80A-A7FD-4EB7-D449-5CB5AE5F5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9C06CB2-16EA-01CE-130F-DEB3424BB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03FB-8387-4978-ABE4-1D889E89E277}" type="datetimeFigureOut">
              <a:rPr lang="en-PK" smtClean="0"/>
              <a:t>27/08/2026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9F47C4A-8C77-5A82-7CA4-9E8582B83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E6DC77E-F959-DDCB-0475-69CDD7BC3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B67C-B7FF-4DBC-A33D-A81C8F15106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53438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0EB6860-0085-29D4-6EAA-F1962E2A5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0B7A064-6FEA-F063-51B3-4CB3E03C7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9575A61-6417-5151-E807-31768280D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03FB-8387-4978-ABE4-1D889E89E277}" type="datetimeFigureOut">
              <a:rPr lang="en-PK" smtClean="0"/>
              <a:t>27/08/2026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4ABAB91-3FF5-9ECF-E20B-352C5C5A3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0EB602F-56A2-E054-09BF-1A171E98D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B67C-B7FF-4DBC-A33D-A81C8F15106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89120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19B6A6A-7EEB-86E6-AD91-6D925831B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DDE6A4D-C6E9-5090-E15E-E8E98BF324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88A86CF-7457-9346-BF4E-EB4ED56F8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AD16B3B-B0ED-4AE6-A849-6C2685F40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03FB-8387-4978-ABE4-1D889E89E277}" type="datetimeFigureOut">
              <a:rPr lang="en-PK" smtClean="0"/>
              <a:t>27/08/2026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199BE091-FD46-793D-DFD2-89433C5F9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B97B68B-9E91-0A45-2768-BDEF4515B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B67C-B7FF-4DBC-A33D-A81C8F15106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20326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1CFC15D-56DE-4B11-3B78-4FA277ABB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1D6757-F6F2-09A9-8F5C-263D3396D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05A44391-3887-5E43-469C-79F78AF1F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BEAFC8FB-D73C-6EA7-7AAB-C9A3A9E62C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5A667376-1AB2-365D-F78D-3F4CAF66C5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796B085B-C2E6-2BF3-9992-3CE9088AA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03FB-8387-4978-ABE4-1D889E89E277}" type="datetimeFigureOut">
              <a:rPr lang="en-PK" smtClean="0"/>
              <a:t>27/08/2026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0C9CCC97-A89A-6F61-EADA-0DFA4E591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3629A3F3-D533-77F9-FD2A-B0F73EC28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B67C-B7FF-4DBC-A33D-A81C8F15106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08181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B0112E7-8FD1-13A6-A244-12DFACB25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EE65EBE2-2D13-A028-FF34-6B7363BAD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03FB-8387-4978-ABE4-1D889E89E277}" type="datetimeFigureOut">
              <a:rPr lang="en-PK" smtClean="0"/>
              <a:t>27/08/2026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31F0DE4-779E-A859-0DD1-6F4393F1F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A9E5098-D5AC-D560-B453-A5BC4E48F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B67C-B7FF-4DBC-A33D-A81C8F15106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83788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80D47134-3962-868A-3877-AECEEDA34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03FB-8387-4978-ABE4-1D889E89E277}" type="datetimeFigureOut">
              <a:rPr lang="en-PK" smtClean="0"/>
              <a:t>27/08/2026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981E75E8-A52D-D4A8-E7A0-0292238BF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B9E8B31-BCEF-6C70-E70C-900471275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B67C-B7FF-4DBC-A33D-A81C8F15106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11638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92D9175-84F2-C31D-15F1-98F3D5A6E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A414BFB-9AAF-9C06-9F15-9F2F67B5C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F7AD947B-7359-383A-B63C-6D7605F15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93DB33D-E1CE-8EDD-6D3D-4A02612B5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03FB-8387-4978-ABE4-1D889E89E277}" type="datetimeFigureOut">
              <a:rPr lang="en-PK" smtClean="0"/>
              <a:t>27/08/2026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B8E6A2C-DA7C-12D0-0875-7F2F7CDD2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67781B9-44C3-F3B6-5E28-8EE70EF6B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B67C-B7FF-4DBC-A33D-A81C8F15106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29369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9214EB9-A96F-AD16-0378-A3EC30228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675EA5BB-B397-33DD-203A-71DFC31902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AC708DB-D9BD-7713-3C18-782C6921DE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AD27B7D-676F-E215-CE51-AF2575B3C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03FB-8387-4978-ABE4-1D889E89E277}" type="datetimeFigureOut">
              <a:rPr lang="en-PK" smtClean="0"/>
              <a:t>27/08/2026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B8E3DF38-23AB-E1A5-AAEC-F325500D6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5EA00E5-69F7-9F9C-3B06-A35A548DA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B67C-B7FF-4DBC-A33D-A81C8F15106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48198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4A221C3-C949-5ADE-5EB8-80BA5F8FC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27717912-5978-395B-3AA9-0BFBA2BF77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318E032-D91E-C400-4824-9296F5CEA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03FB-8387-4978-ABE4-1D889E89E277}" type="datetimeFigureOut">
              <a:rPr lang="en-PK" smtClean="0"/>
              <a:t>27/08/2026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8DC56CA-3C42-FC16-5B29-841FCB2B6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5CCA3FD-4832-652F-CDEC-6D5E8E37E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B67C-B7FF-4DBC-A33D-A81C8F15106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20420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709BDABE-48E8-BCC0-896D-74E032006D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656C847-573F-66BD-B013-CAAF7A9DF2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74F5B94-78E2-A97B-0290-E753CCD3B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03FB-8387-4978-ABE4-1D889E89E277}" type="datetimeFigureOut">
              <a:rPr lang="en-PK" smtClean="0"/>
              <a:t>27/08/2026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14C324B-48FE-D916-3A87-4A91E1A38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95F0BA1-24D9-8EC4-B24E-EBAE94CBE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B67C-B7FF-4DBC-A33D-A81C8F15106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36355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DBD939BC-3463-827C-21F6-18FC432B0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04FFFFB-EF9A-8498-5775-2AF7A98FE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605CA47-9BD3-A697-5C5F-DC910AB0C5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B703FB-8387-4978-ABE4-1D889E89E277}" type="datetimeFigureOut">
              <a:rPr lang="en-PK" smtClean="0"/>
              <a:t>27/08/2026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BC57E0E-401D-8FCD-D596-8F45396996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53E3DAA-1536-C821-46BE-66722CF455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1B67C-B7FF-4DBC-A33D-A81C8F15106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39600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192D6802-EF7D-E357-D190-FDA516FCC5D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1BD5D40A-C3AC-1C39-F642-04A4B56495EB}"/>
              </a:ext>
            </a:extLst>
          </p:cNvPr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CAEC036-0F07-A336-C436-02A97546B159}"/>
              </a:ext>
            </a:extLst>
          </p:cNvPr>
          <p:cNvSpPr txBox="1"/>
          <p:nvPr/>
        </p:nvSpPr>
        <p:spPr>
          <a:xfrm>
            <a:off x="812800" y="1930400"/>
            <a:ext cx="596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0D9488"/>
                </a:solidFill>
                <a:latin typeface="Segoe UI" panose="020B0502040204020203" pitchFamily="34" charset="0"/>
              </a:rPr>
              <a:t>FINAL YEAR PROJECT</a:t>
            </a:r>
            <a:endParaRPr lang="en-PK" sz="11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80B384F-964B-A2AB-07A3-E7D82CC1FEC9}"/>
              </a:ext>
            </a:extLst>
          </p:cNvPr>
          <p:cNvSpPr txBox="1"/>
          <p:nvPr/>
        </p:nvSpPr>
        <p:spPr>
          <a:xfrm>
            <a:off x="812800" y="2235200"/>
            <a:ext cx="59690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5200" b="1">
                <a:solidFill>
                  <a:srgbClr val="1A3C34"/>
                </a:solidFill>
                <a:latin typeface="Segoe UI" panose="020B0502040204020203" pitchFamily="34" charset="0"/>
              </a:rPr>
              <a:t>MemoryCare</a:t>
            </a:r>
            <a:endParaRPr lang="en-PK" sz="52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58B97AED-6DBD-5678-A50F-720546E576FB}"/>
              </a:ext>
            </a:extLst>
          </p:cNvPr>
          <p:cNvSpPr/>
          <p:nvPr/>
        </p:nvSpPr>
        <p:spPr>
          <a:xfrm>
            <a:off x="812800" y="31750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71DF1ED6-6217-23FE-FE2E-2BFD48186687}"/>
              </a:ext>
            </a:extLst>
          </p:cNvPr>
          <p:cNvSpPr txBox="1"/>
          <p:nvPr/>
        </p:nvSpPr>
        <p:spPr>
          <a:xfrm>
            <a:off x="812800" y="34036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solidFill>
                  <a:srgbClr val="1A3C34"/>
                </a:solidFill>
                <a:latin typeface="Segoe UI" panose="020B0502040204020203" pitchFamily="34" charset="0"/>
              </a:rPr>
              <a:t>A smart assistant for dementia and Alzheimer's care</a:t>
            </a:r>
            <a:endParaRPr lang="en-PK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1D76232-2364-2A35-4D6B-6A6F7A3BA7F6}"/>
              </a:ext>
            </a:extLst>
          </p:cNvPr>
          <p:cNvSpPr txBox="1"/>
          <p:nvPr/>
        </p:nvSpPr>
        <p:spPr>
          <a:xfrm>
            <a:off x="812800" y="4191000"/>
            <a:ext cx="584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5A6964"/>
                </a:solidFill>
                <a:latin typeface="Segoe UI" panose="020B0502040204020203" pitchFamily="34" charset="0"/>
              </a:rPr>
              <a:t>Supporting patients and caregivers, every single day</a:t>
            </a:r>
            <a:endParaRPr lang="en-PK" sz="13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96A87E25-7984-C8D4-9604-98700752B2C2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1498600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593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C6083A62-7C0E-0AD2-29C4-D77DA170CB8C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23999C1-4B20-F445-CAB1-56A0DEAEAD76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INTRODUCTION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BF89BA6-3763-0B36-7830-DA27B98234C6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Project Details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79688B3E-86D2-FF26-B5FB-95A53CC910F2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0919B58-67AC-8A29-8208-56B82735FC95}"/>
              </a:ext>
            </a:extLst>
          </p:cNvPr>
          <p:cNvSpPr txBox="1"/>
          <p:nvPr/>
        </p:nvSpPr>
        <p:spPr>
          <a:xfrm>
            <a:off x="812800" y="1600200"/>
            <a:ext cx="10566400" cy="116955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15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700" dirty="0">
                <a:solidFill>
                  <a:srgbClr val="1A3C34"/>
                </a:solidFill>
                <a:latin typeface="Segoe UI" panose="020B0502040204020203" pitchFamily="34" charset="0"/>
              </a:rPr>
              <a:t>Presented by:  </a:t>
            </a:r>
            <a:r>
              <a:rPr lang="en-US" sz="1700" dirty="0" smtClean="0">
                <a:solidFill>
                  <a:srgbClr val="1A3C34"/>
                </a:solidFill>
                <a:latin typeface="Segoe UI" panose="020B0502040204020203" pitchFamily="34" charset="0"/>
              </a:rPr>
              <a:t>Iraj Shahzad</a:t>
            </a:r>
            <a:endParaRPr lang="en-US" sz="1700" dirty="0">
              <a:solidFill>
                <a:srgbClr val="1A3C34"/>
              </a:solidFill>
              <a:latin typeface="Segoe UI" panose="020B0502040204020203" pitchFamily="34" charset="0"/>
            </a:endParaRPr>
          </a:p>
          <a:p>
            <a:pPr marL="342900" indent="-342900">
              <a:spcAft>
                <a:spcPts val="15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700" dirty="0" smtClean="0">
                <a:solidFill>
                  <a:srgbClr val="1A3C34"/>
                </a:solidFill>
                <a:latin typeface="Segoe UI" panose="020B0502040204020203" pitchFamily="34" charset="0"/>
              </a:rPr>
              <a:t>Registration no:  41207223026</a:t>
            </a:r>
            <a:endParaRPr lang="en-US" sz="1700" dirty="0">
              <a:solidFill>
                <a:srgbClr val="1A3C34"/>
              </a:solidFill>
              <a:latin typeface="Segoe UI" panose="020B0502040204020203" pitchFamily="34" charset="0"/>
            </a:endParaRPr>
          </a:p>
          <a:p>
            <a:pPr marL="342900" indent="-342900">
              <a:spcAft>
                <a:spcPts val="15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700" dirty="0" smtClean="0">
                <a:solidFill>
                  <a:srgbClr val="1A3C34"/>
                </a:solidFill>
                <a:latin typeface="Segoe UI" panose="020B0502040204020203" pitchFamily="34" charset="0"/>
              </a:rPr>
              <a:t>Domain</a:t>
            </a:r>
            <a:r>
              <a:rPr lang="en-US" sz="1700" dirty="0">
                <a:solidFill>
                  <a:srgbClr val="1A3C34"/>
                </a:solidFill>
                <a:latin typeface="Segoe UI" panose="020B0502040204020203" pitchFamily="34" charset="0"/>
              </a:rPr>
              <a:t>:  Healthcare and Artificial </a:t>
            </a:r>
            <a:r>
              <a:rPr lang="en-US" sz="1700" dirty="0" smtClean="0">
                <a:solidFill>
                  <a:srgbClr val="1A3C34"/>
                </a:solidFill>
                <a:latin typeface="Segoe UI" panose="020B0502040204020203" pitchFamily="34" charset="0"/>
              </a:rPr>
              <a:t>Intelligence</a:t>
            </a:r>
            <a:endParaRPr lang="en-US" sz="1700" dirty="0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C77BA7F9-2193-D19A-5C7E-726EFB0FD808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DA4FB18F-A7ED-3B1B-79C1-F58345CBBAC0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9D73DD7-4994-9EC7-B057-1F8C204A40DB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79537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D64A087D-42C8-36A3-8DDD-4B83EDCA75AA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2C8EADC-5491-F5CC-FE36-06764F85E4C9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INTRODUCTION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BD090A1-C83A-AF6A-C645-EDCED265C0BE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Presentation Outline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465404E4-5645-A254-B647-9251A6772168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F64FB5B6-94A4-7293-4972-63DF903652E5}"/>
              </a:ext>
            </a:extLst>
          </p:cNvPr>
          <p:cNvSpPr txBox="1"/>
          <p:nvPr/>
        </p:nvSpPr>
        <p:spPr>
          <a:xfrm>
            <a:off x="812800" y="1600200"/>
            <a:ext cx="1056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A6964"/>
                </a:solidFill>
                <a:latin typeface="Segoe UI" panose="020B0502040204020203" pitchFamily="34" charset="0"/>
              </a:rPr>
              <a:t>What we will cover today</a:t>
            </a:r>
            <a:endParaRPr lang="en-PK" sz="15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48C1E338-C1E0-CDA4-756D-80CBF0FBFDA2}"/>
              </a:ext>
            </a:extLst>
          </p:cNvPr>
          <p:cNvSpPr txBox="1"/>
          <p:nvPr/>
        </p:nvSpPr>
        <p:spPr>
          <a:xfrm>
            <a:off x="812800" y="2006600"/>
            <a:ext cx="10566400" cy="207749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15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700">
                <a:solidFill>
                  <a:srgbClr val="1A3C34"/>
                </a:solidFill>
                <a:latin typeface="Segoe UI" panose="020B0502040204020203" pitchFamily="34" charset="0"/>
              </a:rPr>
              <a:t>The problem and why it matters</a:t>
            </a:r>
          </a:p>
          <a:p>
            <a:pPr marL="342900" indent="-342900">
              <a:spcAft>
                <a:spcPts val="15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700">
                <a:solidFill>
                  <a:srgbClr val="1A3C34"/>
                </a:solidFill>
                <a:latin typeface="Segoe UI" panose="020B0502040204020203" pitchFamily="34" charset="0"/>
              </a:rPr>
              <a:t>Our solution and its main features</a:t>
            </a:r>
          </a:p>
          <a:p>
            <a:pPr marL="342900" indent="-342900">
              <a:spcAft>
                <a:spcPts val="15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700">
                <a:solidFill>
                  <a:srgbClr val="1A3C34"/>
                </a:solidFill>
                <a:latin typeface="Segoe UI" panose="020B0502040204020203" pitchFamily="34" charset="0"/>
              </a:rPr>
              <a:t>System analysis:  use cases, domain model and system sequence</a:t>
            </a:r>
          </a:p>
          <a:p>
            <a:pPr marL="342900" indent="-342900">
              <a:spcAft>
                <a:spcPts val="15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700">
                <a:solidFill>
                  <a:srgbClr val="1A3C34"/>
                </a:solidFill>
                <a:latin typeface="Segoe UI" panose="020B0502040204020203" pitchFamily="34" charset="0"/>
              </a:rPr>
              <a:t>System design:  database, architecture and process flows</a:t>
            </a:r>
          </a:p>
          <a:p>
            <a:pPr marL="342900" indent="-342900">
              <a:spcAft>
                <a:spcPts val="15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700">
                <a:solidFill>
                  <a:srgbClr val="1A3C34"/>
                </a:solidFill>
                <a:latin typeface="Segoe UI" panose="020B0502040204020203" pitchFamily="34" charset="0"/>
              </a:rPr>
              <a:t>Implementation, testing and results</a:t>
            </a:r>
            <a:endParaRPr lang="en-PK" sz="1700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04415575-8B44-9432-E2DB-73C34143B271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10B9BDD3-B9A8-DB33-3C23-E54DC07ED7F6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B3611251-8E8F-A79C-2CC0-06CF6B832BC6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80340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ECBD4E5-A029-D026-5001-FDC05687649C}"/>
              </a:ext>
            </a:extLst>
          </p:cNvPr>
          <p:cNvSpPr txBox="1"/>
          <p:nvPr/>
        </p:nvSpPr>
        <p:spPr>
          <a:xfrm>
            <a:off x="812800" y="2540000"/>
            <a:ext cx="2540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K" sz="5400" b="1">
                <a:solidFill>
                  <a:srgbClr val="FFFFFF"/>
                </a:solidFill>
                <a:latin typeface="Segoe UI" panose="020B0502040204020203" pitchFamily="34" charset="0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0C912E74-7328-476D-BDA9-968C95BCB40D}"/>
              </a:ext>
            </a:extLst>
          </p:cNvPr>
          <p:cNvSpPr/>
          <p:nvPr/>
        </p:nvSpPr>
        <p:spPr>
          <a:xfrm>
            <a:off x="812800" y="3403600"/>
            <a:ext cx="660400" cy="381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17A7C33F-3EFF-DD9A-51D0-C501D8C2F134}"/>
              </a:ext>
            </a:extLst>
          </p:cNvPr>
          <p:cNvSpPr txBox="1"/>
          <p:nvPr/>
        </p:nvSpPr>
        <p:spPr>
          <a:xfrm>
            <a:off x="2463800" y="2603500"/>
            <a:ext cx="787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600" b="1">
                <a:solidFill>
                  <a:srgbClr val="FFFFFF"/>
                </a:solidFill>
                <a:latin typeface="Segoe UI" panose="020B0502040204020203" pitchFamily="34" charset="0"/>
              </a:rPr>
              <a:t>Problem and Solution</a:t>
            </a:r>
            <a:endParaRPr lang="en-PK" sz="36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59949AB-3D80-6B0A-680C-4CEB2C29D4E3}"/>
              </a:ext>
            </a:extLst>
          </p:cNvPr>
          <p:cNvSpPr txBox="1"/>
          <p:nvPr/>
        </p:nvSpPr>
        <p:spPr>
          <a:xfrm>
            <a:off x="2489200" y="3251200"/>
            <a:ext cx="787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FFFFFF"/>
                </a:solidFill>
                <a:latin typeface="Segoe UI" panose="020B0502040204020203" pitchFamily="34" charset="0"/>
              </a:rPr>
              <a:t>Understanding the need and our approach</a:t>
            </a:r>
            <a:endParaRPr lang="en-PK" sz="15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384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9CE99412-8B5F-5F23-BB00-6641FEB5DF01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BA3DA5F-8096-D7C9-D45E-AFB25ACB50BA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PROBLEM AND SOLUTION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5468866-2AB4-FB74-A971-2C9A4E57E3F4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Problem Statement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CCBE1DD0-6753-614C-FAF5-E40942274F51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83B88B33-2BC5-4306-551C-105E0360B0A1}"/>
              </a:ext>
            </a:extLst>
          </p:cNvPr>
          <p:cNvSpPr txBox="1"/>
          <p:nvPr/>
        </p:nvSpPr>
        <p:spPr>
          <a:xfrm>
            <a:off x="812800" y="1600200"/>
            <a:ext cx="1056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A6964"/>
                </a:solidFill>
                <a:latin typeface="Segoe UI" panose="020B0502040204020203" pitchFamily="34" charset="0"/>
              </a:rPr>
              <a:t>Daily life becomes difficult for both the patient and the family</a:t>
            </a:r>
            <a:endParaRPr lang="en-PK" sz="15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DF4AEBD-FBE1-7D80-9F6C-FA1AA606C178}"/>
              </a:ext>
            </a:extLst>
          </p:cNvPr>
          <p:cNvSpPr/>
          <p:nvPr/>
        </p:nvSpPr>
        <p:spPr>
          <a:xfrm>
            <a:off x="812800" y="2032000"/>
            <a:ext cx="5130800" cy="9652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rIns="127000" rtlCol="0" anchor="ctr"/>
          <a:lstStyle/>
          <a:p>
            <a:r>
              <a:rPr lang="en-US" sz="1350" b="1">
                <a:solidFill>
                  <a:srgbClr val="1A3C34"/>
                </a:solidFill>
                <a:latin typeface="Segoe UI" panose="020B0502040204020203" pitchFamily="34" charset="0"/>
              </a:rPr>
              <a:t>Patients forget their medicines and daily routines</a:t>
            </a:r>
            <a:endParaRPr lang="en-PK" sz="135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D214F552-EFFD-A17E-CDF6-289905BF5E63}"/>
              </a:ext>
            </a:extLst>
          </p:cNvPr>
          <p:cNvSpPr/>
          <p:nvPr/>
        </p:nvSpPr>
        <p:spPr>
          <a:xfrm>
            <a:off x="812800" y="2032000"/>
            <a:ext cx="38100" cy="9652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6204024C-6543-03F5-7B03-F635136E446E}"/>
              </a:ext>
            </a:extLst>
          </p:cNvPr>
          <p:cNvSpPr/>
          <p:nvPr/>
        </p:nvSpPr>
        <p:spPr>
          <a:xfrm>
            <a:off x="6248400" y="2032000"/>
            <a:ext cx="5130800" cy="9652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rIns="127000" rtlCol="0" anchor="ctr"/>
          <a:lstStyle/>
          <a:p>
            <a:r>
              <a:rPr lang="en-US" sz="1350" b="1">
                <a:solidFill>
                  <a:srgbClr val="1A3C34"/>
                </a:solidFill>
                <a:latin typeface="Segoe UI" panose="020B0502040204020203" pitchFamily="34" charset="0"/>
              </a:rPr>
              <a:t>Familiar faces become hard to recognise</a:t>
            </a:r>
            <a:endParaRPr lang="en-PK" sz="135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0893B554-E043-5E27-9C50-C365733AF656}"/>
              </a:ext>
            </a:extLst>
          </p:cNvPr>
          <p:cNvSpPr/>
          <p:nvPr/>
        </p:nvSpPr>
        <p:spPr>
          <a:xfrm>
            <a:off x="6248400" y="2032000"/>
            <a:ext cx="38100" cy="9652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A85B0A52-5065-4D1A-BE13-0E64E05F6B57}"/>
              </a:ext>
            </a:extLst>
          </p:cNvPr>
          <p:cNvSpPr/>
          <p:nvPr/>
        </p:nvSpPr>
        <p:spPr>
          <a:xfrm>
            <a:off x="812800" y="3200400"/>
            <a:ext cx="5130800" cy="9652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rIns="127000" rtlCol="0" anchor="ctr"/>
          <a:lstStyle/>
          <a:p>
            <a:r>
              <a:rPr lang="en-US" sz="1350" b="1">
                <a:solidFill>
                  <a:srgbClr val="1A3C34"/>
                </a:solidFill>
                <a:latin typeface="Segoe UI" panose="020B0502040204020203" pitchFamily="34" charset="0"/>
              </a:rPr>
              <a:t>Caregivers cannot watch over the patient all day</a:t>
            </a:r>
            <a:endParaRPr lang="en-PK" sz="135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FCB7841A-BD50-A8DC-76DF-4FCCAD44C3DA}"/>
              </a:ext>
            </a:extLst>
          </p:cNvPr>
          <p:cNvSpPr/>
          <p:nvPr/>
        </p:nvSpPr>
        <p:spPr>
          <a:xfrm>
            <a:off x="812800" y="3200400"/>
            <a:ext cx="38100" cy="9652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88A1976A-2D12-C090-5283-42ADA69A8C5F}"/>
              </a:ext>
            </a:extLst>
          </p:cNvPr>
          <p:cNvSpPr/>
          <p:nvPr/>
        </p:nvSpPr>
        <p:spPr>
          <a:xfrm>
            <a:off x="6248400" y="3200400"/>
            <a:ext cx="5130800" cy="9652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rIns="127000" rtlCol="0" anchor="ctr"/>
          <a:lstStyle/>
          <a:p>
            <a:r>
              <a:rPr lang="en-US" sz="1350" b="1">
                <a:solidFill>
                  <a:srgbClr val="1A3C34"/>
                </a:solidFill>
                <a:latin typeface="Segoe UI" panose="020B0502040204020203" pitchFamily="34" charset="0"/>
              </a:rPr>
              <a:t>Missed doses often go completely unnoticed</a:t>
            </a:r>
            <a:endParaRPr lang="en-PK" sz="135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FE37863D-1AEE-D46F-3C80-FF252E3DF601}"/>
              </a:ext>
            </a:extLst>
          </p:cNvPr>
          <p:cNvSpPr/>
          <p:nvPr/>
        </p:nvSpPr>
        <p:spPr>
          <a:xfrm>
            <a:off x="6248400" y="3200400"/>
            <a:ext cx="38100" cy="9652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5F47BBFE-01AD-91F2-1B87-A86C0C26F421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7138D22B-5FA2-9471-A80E-EFEB7BF825A0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F4144355-94E4-6F29-AF5D-450F68798AEA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90247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CA409A08-B3E2-2B67-BAE3-9CF2C0FF0D30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59E19A6-3AF8-F11B-1CD7-547431ECACBA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PROBLEM AND SOLUTION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9119034D-C35B-43DC-426F-BAA9A5DD3E9B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Existing Systems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3648B449-8024-8B89-CE97-2451C24C16CB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93B6E84-451C-49DC-379B-4B340825E5C5}"/>
              </a:ext>
            </a:extLst>
          </p:cNvPr>
          <p:cNvSpPr txBox="1"/>
          <p:nvPr/>
        </p:nvSpPr>
        <p:spPr>
          <a:xfrm>
            <a:off x="812800" y="1600200"/>
            <a:ext cx="660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A6964"/>
                </a:solidFill>
                <a:latin typeface="Segoe UI" panose="020B0502040204020203" pitchFamily="34" charset="0"/>
              </a:rPr>
              <a:t>Why current tools are not enough</a:t>
            </a:r>
            <a:endParaRPr lang="en-PK" sz="15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960D751D-8059-0544-B6B9-9BDE5678F281}"/>
              </a:ext>
            </a:extLst>
          </p:cNvPr>
          <p:cNvSpPr txBox="1"/>
          <p:nvPr/>
        </p:nvSpPr>
        <p:spPr>
          <a:xfrm>
            <a:off x="812800" y="2006600"/>
            <a:ext cx="6604000" cy="176971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14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600">
                <a:solidFill>
                  <a:srgbClr val="1A3C34"/>
                </a:solidFill>
                <a:latin typeface="Segoe UI" panose="020B0502040204020203" pitchFamily="34" charset="0"/>
              </a:rPr>
              <a:t>Reminder apps only show a basic alert and never involve the caregiver.</a:t>
            </a:r>
          </a:p>
          <a:p>
            <a:pPr marL="342900" indent="-342900">
              <a:spcAft>
                <a:spcPts val="14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600">
                <a:solidFill>
                  <a:srgbClr val="1A3C34"/>
                </a:solidFill>
                <a:latin typeface="Segoe UI" panose="020B0502040204020203" pitchFamily="34" charset="0"/>
              </a:rPr>
              <a:t>Voice assistants cannot recognise faces or use the patient's care data.</a:t>
            </a:r>
          </a:p>
          <a:p>
            <a:pPr marL="342900" indent="-342900">
              <a:spcAft>
                <a:spcPts val="14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600">
                <a:solidFill>
                  <a:srgbClr val="1A3C34"/>
                </a:solidFill>
                <a:latin typeface="Segoe UI" panose="020B0502040204020203" pitchFamily="34" charset="0"/>
              </a:rPr>
              <a:t>Each tool solves one task, so families end up using many apps.</a:t>
            </a:r>
          </a:p>
          <a:p>
            <a:pPr marL="342900" indent="-342900">
              <a:spcAft>
                <a:spcPts val="14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600">
                <a:solidFill>
                  <a:srgbClr val="1A3C34"/>
                </a:solidFill>
                <a:latin typeface="Segoe UI" panose="020B0502040204020203" pitchFamily="34" charset="0"/>
              </a:rPr>
              <a:t>None of them keep a record that a doctor or caregiver can review.</a:t>
            </a:r>
            <a:endParaRPr lang="en-PK" sz="1600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5150DF26-A5E4-B1BB-AE50-00814882CF69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700" y="1905000"/>
            <a:ext cx="3302000" cy="3302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F09753C-CB81-C8B8-4FCC-48B9FF3791E4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D25A943-4428-A68C-343C-3CE55A66C3AE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20B97ABE-BC14-6D7B-1F33-E99A35D5BF09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391927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9DD5938A-88F6-A7A4-16C5-E6302A2C44A4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D727FFFA-2099-0F7B-272A-ADD617A13350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PROBLEM AND SOLUTION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ECE6574-7E6E-88BC-591E-32D57CF5C7B2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Proposed Solution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49D28FB8-A3B8-DB84-0C63-C98958BA923D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883F76C-8126-A0A8-673C-BA2460A6C82E}"/>
              </a:ext>
            </a:extLst>
          </p:cNvPr>
          <p:cNvSpPr txBox="1"/>
          <p:nvPr/>
        </p:nvSpPr>
        <p:spPr>
          <a:xfrm>
            <a:off x="812800" y="1600200"/>
            <a:ext cx="660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A6964"/>
                </a:solidFill>
                <a:latin typeface="Segoe UI" panose="020B0502040204020203" pitchFamily="34" charset="0"/>
              </a:rPr>
              <a:t>One simple app for the patient and the caregiver</a:t>
            </a:r>
            <a:endParaRPr lang="en-PK" sz="15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4F3F225-2181-E5D2-5022-AEDC7EE4DC99}"/>
              </a:ext>
            </a:extLst>
          </p:cNvPr>
          <p:cNvSpPr txBox="1"/>
          <p:nvPr/>
        </p:nvSpPr>
        <p:spPr>
          <a:xfrm>
            <a:off x="812800" y="2006600"/>
            <a:ext cx="6604000" cy="19492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14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600">
                <a:solidFill>
                  <a:srgbClr val="1A3C34"/>
                </a:solidFill>
                <a:latin typeface="Segoe UI" panose="020B0502040204020203" pitchFamily="34" charset="0"/>
              </a:rPr>
              <a:t>Medicine and routine reminders with a clear voice alert.</a:t>
            </a:r>
          </a:p>
          <a:p>
            <a:pPr marL="342900" indent="-342900">
              <a:spcAft>
                <a:spcPts val="14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600">
                <a:solidFill>
                  <a:srgbClr val="1A3C34"/>
                </a:solidFill>
                <a:latin typeface="Segoe UI" panose="020B0502040204020203" pitchFamily="34" charset="0"/>
              </a:rPr>
              <a:t>Face recognition that tells the patient who a person is.</a:t>
            </a:r>
          </a:p>
          <a:p>
            <a:pPr marL="342900" indent="-342900">
              <a:spcAft>
                <a:spcPts val="14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600">
                <a:solidFill>
                  <a:srgbClr val="1A3C34"/>
                </a:solidFill>
                <a:latin typeface="Segoe UI" panose="020B0502040204020203" pitchFamily="34" charset="0"/>
              </a:rPr>
              <a:t>A friendly assistant that answers in easy words.</a:t>
            </a:r>
          </a:p>
          <a:p>
            <a:pPr marL="342900" indent="-342900">
              <a:spcAft>
                <a:spcPts val="14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600">
                <a:solidFill>
                  <a:srgbClr val="1A3C34"/>
                </a:solidFill>
                <a:latin typeface="Segoe UI" panose="020B0502040204020203" pitchFamily="34" charset="0"/>
              </a:rPr>
              <a:t>Instant alerts to the caregiver when something is missed.</a:t>
            </a:r>
          </a:p>
          <a:p>
            <a:pPr marL="342900" indent="-342900">
              <a:spcAft>
                <a:spcPts val="14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600">
                <a:solidFill>
                  <a:srgbClr val="1A3C34"/>
                </a:solidFill>
                <a:latin typeface="Segoe UI" panose="020B0502040204020203" pitchFamily="34" charset="0"/>
              </a:rPr>
              <a:t>Reports that show how well the care plan is followed.</a:t>
            </a:r>
            <a:endParaRPr lang="en-PK" sz="1600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071D8A7D-B112-F406-EAC5-C63B77B16C84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700" y="1905000"/>
            <a:ext cx="3302000" cy="3302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543F7B4B-2C8C-9D9F-7075-BE6FA38FC7E0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EC0212C4-95E2-C243-8357-90AF34883D51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9AFA491C-C80C-312D-7D9F-CE7C715AB1AB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81812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D579152-AA4C-3F73-6AF6-98A9CC2CCA2D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E0C3CBC-2F58-2153-B805-A1867CD91C0E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PROBLEM AND SOLUTION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5B8AE93-81C7-59D8-D330-6A671B2F1E6B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System Features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DAA09045-2F75-99BA-542C-A4C771B25FA4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F2E57FD-6848-ABE1-CF82-95B5EB3960D5}"/>
              </a:ext>
            </a:extLst>
          </p:cNvPr>
          <p:cNvSpPr txBox="1"/>
          <p:nvPr/>
        </p:nvSpPr>
        <p:spPr>
          <a:xfrm>
            <a:off x="812800" y="1600200"/>
            <a:ext cx="1056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A6964"/>
                </a:solidFill>
                <a:latin typeface="Segoe UI" panose="020B0502040204020203" pitchFamily="34" charset="0"/>
              </a:rPr>
              <a:t>Eight features that work together as one care system</a:t>
            </a:r>
            <a:endParaRPr lang="en-PK" sz="15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865E226D-E13F-3AD0-B2AF-0FC34FC668F5}"/>
              </a:ext>
            </a:extLst>
          </p:cNvPr>
          <p:cNvSpPr/>
          <p:nvPr/>
        </p:nvSpPr>
        <p:spPr>
          <a:xfrm>
            <a:off x="812800" y="2032000"/>
            <a:ext cx="5130800" cy="7366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rIns="127000" rtlCol="0" anchor="ctr"/>
          <a:lstStyle/>
          <a:p>
            <a:r>
              <a:rPr lang="en-US" sz="1350" b="1">
                <a:solidFill>
                  <a:srgbClr val="1A3C34"/>
                </a:solidFill>
                <a:latin typeface="Segoe UI" panose="020B0502040204020203" pitchFamily="34" charset="0"/>
              </a:rPr>
              <a:t>Medicine reminders with voice</a:t>
            </a:r>
            <a:endParaRPr lang="en-PK" sz="135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4C0CE7A7-3AD4-46EE-0601-F67639AD8894}"/>
              </a:ext>
            </a:extLst>
          </p:cNvPr>
          <p:cNvSpPr/>
          <p:nvPr/>
        </p:nvSpPr>
        <p:spPr>
          <a:xfrm>
            <a:off x="812800" y="2032000"/>
            <a:ext cx="38100" cy="7366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1FABB69E-32F7-5EF4-6270-D325B6AAC669}"/>
              </a:ext>
            </a:extLst>
          </p:cNvPr>
          <p:cNvSpPr/>
          <p:nvPr/>
        </p:nvSpPr>
        <p:spPr>
          <a:xfrm>
            <a:off x="6248400" y="2032000"/>
            <a:ext cx="5130800" cy="7366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rIns="127000" rtlCol="0" anchor="ctr"/>
          <a:lstStyle/>
          <a:p>
            <a:r>
              <a:rPr lang="en-US" sz="1350" b="1">
                <a:solidFill>
                  <a:srgbClr val="1A3C34"/>
                </a:solidFill>
                <a:latin typeface="Segoe UI" panose="020B0502040204020203" pitchFamily="34" charset="0"/>
              </a:rPr>
              <a:t>Daily routine tracking</a:t>
            </a:r>
            <a:endParaRPr lang="en-PK" sz="135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0E8C3CE5-9E14-FB08-DF6A-350E35AB0950}"/>
              </a:ext>
            </a:extLst>
          </p:cNvPr>
          <p:cNvSpPr/>
          <p:nvPr/>
        </p:nvSpPr>
        <p:spPr>
          <a:xfrm>
            <a:off x="6248400" y="2032000"/>
            <a:ext cx="38100" cy="7366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C8CEEE95-9804-38DF-F9BC-5482AB1D5A32}"/>
              </a:ext>
            </a:extLst>
          </p:cNvPr>
          <p:cNvSpPr/>
          <p:nvPr/>
        </p:nvSpPr>
        <p:spPr>
          <a:xfrm>
            <a:off x="812800" y="2971800"/>
            <a:ext cx="5130800" cy="7366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rIns="127000" rtlCol="0" anchor="ctr"/>
          <a:lstStyle/>
          <a:p>
            <a:r>
              <a:rPr lang="en-US" sz="1350" b="1">
                <a:solidFill>
                  <a:srgbClr val="1A3C34"/>
                </a:solidFill>
                <a:latin typeface="Segoe UI" panose="020B0502040204020203" pitchFamily="34" charset="0"/>
              </a:rPr>
              <a:t>Face recognition of loved ones</a:t>
            </a:r>
            <a:endParaRPr lang="en-PK" sz="135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57A590DE-9225-4B88-ACF9-A60A466986A6}"/>
              </a:ext>
            </a:extLst>
          </p:cNvPr>
          <p:cNvSpPr/>
          <p:nvPr/>
        </p:nvSpPr>
        <p:spPr>
          <a:xfrm>
            <a:off x="812800" y="2971800"/>
            <a:ext cx="38100" cy="7366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739A30CC-34F8-DB59-4B15-92E36A66C196}"/>
              </a:ext>
            </a:extLst>
          </p:cNvPr>
          <p:cNvSpPr/>
          <p:nvPr/>
        </p:nvSpPr>
        <p:spPr>
          <a:xfrm>
            <a:off x="6248400" y="2971800"/>
            <a:ext cx="5130800" cy="7366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rIns="127000" rtlCol="0" anchor="ctr"/>
          <a:lstStyle/>
          <a:p>
            <a:r>
              <a:rPr lang="en-US" sz="1350" b="1">
                <a:solidFill>
                  <a:srgbClr val="1A3C34"/>
                </a:solidFill>
                <a:latin typeface="Segoe UI" panose="020B0502040204020203" pitchFamily="34" charset="0"/>
              </a:rPr>
              <a:t>Memory gallery of people and moments</a:t>
            </a:r>
            <a:endParaRPr lang="en-PK" sz="135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C2445999-4091-F716-3625-495DF7E50A08}"/>
              </a:ext>
            </a:extLst>
          </p:cNvPr>
          <p:cNvSpPr/>
          <p:nvPr/>
        </p:nvSpPr>
        <p:spPr>
          <a:xfrm>
            <a:off x="6248400" y="2971800"/>
            <a:ext cx="38100" cy="7366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A100DE9C-B8D4-1A4C-949D-FC0E7F7192B3}"/>
              </a:ext>
            </a:extLst>
          </p:cNvPr>
          <p:cNvSpPr/>
          <p:nvPr/>
        </p:nvSpPr>
        <p:spPr>
          <a:xfrm>
            <a:off x="812800" y="3911600"/>
            <a:ext cx="5130800" cy="7366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rIns="127000" rtlCol="0" anchor="ctr"/>
          <a:lstStyle/>
          <a:p>
            <a:r>
              <a:rPr lang="en-US" sz="1350" b="1">
                <a:solidFill>
                  <a:srgbClr val="1A3C34"/>
                </a:solidFill>
                <a:latin typeface="Segoe UI" panose="020B0502040204020203" pitchFamily="34" charset="0"/>
              </a:rPr>
              <a:t>Friendly chat assistant</a:t>
            </a:r>
            <a:endParaRPr lang="en-PK" sz="135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8C3860C7-502C-C177-C1D5-715F37AEDEC9}"/>
              </a:ext>
            </a:extLst>
          </p:cNvPr>
          <p:cNvSpPr/>
          <p:nvPr/>
        </p:nvSpPr>
        <p:spPr>
          <a:xfrm>
            <a:off x="812800" y="3911600"/>
            <a:ext cx="38100" cy="7366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9B652074-602E-D011-B9BD-16C056FA89A5}"/>
              </a:ext>
            </a:extLst>
          </p:cNvPr>
          <p:cNvSpPr/>
          <p:nvPr/>
        </p:nvSpPr>
        <p:spPr>
          <a:xfrm>
            <a:off x="6248400" y="3911600"/>
            <a:ext cx="5130800" cy="7366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rIns="127000" rtlCol="0" anchor="ctr"/>
          <a:lstStyle/>
          <a:p>
            <a:r>
              <a:rPr lang="en-US" sz="1350" b="1">
                <a:solidFill>
                  <a:srgbClr val="1A3C34"/>
                </a:solidFill>
                <a:latin typeface="Segoe UI" panose="020B0502040204020203" pitchFamily="34" charset="0"/>
              </a:rPr>
              <a:t>Real time caregiver alerts</a:t>
            </a:r>
            <a:endParaRPr lang="en-PK" sz="135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F44135FF-E367-AA1F-B63F-9068A3D961C9}"/>
              </a:ext>
            </a:extLst>
          </p:cNvPr>
          <p:cNvSpPr/>
          <p:nvPr/>
        </p:nvSpPr>
        <p:spPr>
          <a:xfrm>
            <a:off x="6248400" y="3911600"/>
            <a:ext cx="38100" cy="7366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8627E27E-C25A-4989-C956-F1E8227C72DB}"/>
              </a:ext>
            </a:extLst>
          </p:cNvPr>
          <p:cNvSpPr/>
          <p:nvPr/>
        </p:nvSpPr>
        <p:spPr>
          <a:xfrm>
            <a:off x="812800" y="4851400"/>
            <a:ext cx="5130800" cy="7366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rIns="127000" rtlCol="0" anchor="ctr"/>
          <a:lstStyle/>
          <a:p>
            <a:r>
              <a:rPr lang="en-US" sz="1350" b="1">
                <a:solidFill>
                  <a:srgbClr val="1A3C34"/>
                </a:solidFill>
                <a:latin typeface="Segoe UI" panose="020B0502040204020203" pitchFamily="34" charset="0"/>
              </a:rPr>
              <a:t>Reports and compliance tracking</a:t>
            </a:r>
            <a:endParaRPr lang="en-PK" sz="135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427D797B-89B8-83C6-C3DB-A5B8E7287498}"/>
              </a:ext>
            </a:extLst>
          </p:cNvPr>
          <p:cNvSpPr/>
          <p:nvPr/>
        </p:nvSpPr>
        <p:spPr>
          <a:xfrm>
            <a:off x="812800" y="4851400"/>
            <a:ext cx="38100" cy="7366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3F117EFE-E749-0F07-C9F1-E938C1390E0B}"/>
              </a:ext>
            </a:extLst>
          </p:cNvPr>
          <p:cNvSpPr/>
          <p:nvPr/>
        </p:nvSpPr>
        <p:spPr>
          <a:xfrm>
            <a:off x="6248400" y="4851400"/>
            <a:ext cx="5130800" cy="7366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rIns="127000" rtlCol="0" anchor="ctr"/>
          <a:lstStyle/>
          <a:p>
            <a:r>
              <a:rPr lang="en-US" sz="1350" b="1">
                <a:solidFill>
                  <a:srgbClr val="1A3C34"/>
                </a:solidFill>
                <a:latin typeface="Segoe UI" panose="020B0502040204020203" pitchFamily="34" charset="0"/>
              </a:rPr>
              <a:t>Roles for patient, caregiver and admin</a:t>
            </a:r>
            <a:endParaRPr lang="en-PK" sz="135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885B3FCF-F0D3-1205-067A-2D52F5BC14FB}"/>
              </a:ext>
            </a:extLst>
          </p:cNvPr>
          <p:cNvSpPr/>
          <p:nvPr/>
        </p:nvSpPr>
        <p:spPr>
          <a:xfrm>
            <a:off x="6248400" y="4851400"/>
            <a:ext cx="38100" cy="7366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664BC8EB-C8B4-01D0-98D0-74F0B496E028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B815A98B-35F8-DA81-2594-74EA9052A81C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73A7A468-0207-B7DB-5407-4AC795D9153D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334946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8ADC2E76-06F6-4ADA-B0BF-1780539A58F6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F157742-9C35-F6E7-B9D6-029DBCA92A34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PROBLEM AND SOLUTION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4AFE38B7-F4E5-7BD6-4627-FC080A6DA1DE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Objectives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3FF9E1BA-EF58-3F2F-3BCA-9CDAF9BE4809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A6AC996-43E9-4031-93E3-A28746A521BA}"/>
              </a:ext>
            </a:extLst>
          </p:cNvPr>
          <p:cNvSpPr txBox="1"/>
          <p:nvPr/>
        </p:nvSpPr>
        <p:spPr>
          <a:xfrm>
            <a:off x="812800" y="1600200"/>
            <a:ext cx="660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A6964"/>
                </a:solidFill>
                <a:latin typeface="Segoe UI" panose="020B0502040204020203" pitchFamily="34" charset="0"/>
              </a:rPr>
              <a:t>What the project set out to achieve</a:t>
            </a:r>
            <a:endParaRPr lang="en-PK" sz="15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8366926D-0AB9-D165-B17F-E440F1C0E3AA}"/>
              </a:ext>
            </a:extLst>
          </p:cNvPr>
          <p:cNvSpPr txBox="1"/>
          <p:nvPr/>
        </p:nvSpPr>
        <p:spPr>
          <a:xfrm>
            <a:off x="812800" y="2006600"/>
            <a:ext cx="6604000" cy="19492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14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600">
                <a:solidFill>
                  <a:srgbClr val="1A3C34"/>
                </a:solidFill>
                <a:latin typeface="Segoe UI" panose="020B0502040204020203" pitchFamily="34" charset="0"/>
              </a:rPr>
              <a:t>Help patients remember medicines and daily routines.</a:t>
            </a:r>
          </a:p>
          <a:p>
            <a:pPr marL="342900" indent="-342900">
              <a:spcAft>
                <a:spcPts val="14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600">
                <a:solidFill>
                  <a:srgbClr val="1A3C34"/>
                </a:solidFill>
                <a:latin typeface="Segoe UI" panose="020B0502040204020203" pitchFamily="34" charset="0"/>
              </a:rPr>
              <a:t>Help patients recognise the people around them.</a:t>
            </a:r>
          </a:p>
          <a:p>
            <a:pPr marL="342900" indent="-342900">
              <a:spcAft>
                <a:spcPts val="14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600">
                <a:solidFill>
                  <a:srgbClr val="1A3C34"/>
                </a:solidFill>
                <a:latin typeface="Segoe UI" panose="020B0502040204020203" pitchFamily="34" charset="0"/>
              </a:rPr>
              <a:t>Give patients a simple assistant they can talk to.</a:t>
            </a:r>
          </a:p>
          <a:p>
            <a:pPr marL="342900" indent="-342900">
              <a:spcAft>
                <a:spcPts val="14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600">
                <a:solidFill>
                  <a:srgbClr val="1A3C34"/>
                </a:solidFill>
                <a:latin typeface="Segoe UI" panose="020B0502040204020203" pitchFamily="34" charset="0"/>
              </a:rPr>
              <a:t>Keep caregivers informed through live alerts and reports.</a:t>
            </a:r>
          </a:p>
          <a:p>
            <a:pPr marL="342900" indent="-342900">
              <a:spcAft>
                <a:spcPts val="14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600">
                <a:solidFill>
                  <a:srgbClr val="1A3C34"/>
                </a:solidFill>
                <a:latin typeface="Segoe UI" panose="020B0502040204020203" pitchFamily="34" charset="0"/>
              </a:rPr>
              <a:t>Give admins the tools to manage users and monitor the system.</a:t>
            </a:r>
            <a:endParaRPr lang="en-PK" sz="1600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52C4208E-ED3A-2BAF-DC78-29788B8D1547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700" y="1905000"/>
            <a:ext cx="3302000" cy="3302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A9D6A0B1-E1BA-5897-A9FE-626451FE157B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7BE700C9-A4C8-11E4-5ED6-D641BAAAD450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99BA62DF-8B1F-91E8-ECC8-1DD8CFFF266C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837688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099AA2B0-E494-AEE8-3660-ED6393F6392D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C9629B9-B606-2198-DEA8-216DD41D439F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PROBLEM AND SOLUTION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DD033063-B858-E034-2861-61293A973CCA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Scope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8FAA176-2B8A-6C12-74A3-0C1563AA1AF0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41C563EE-1E74-9423-BD19-BC0884517ACF}"/>
              </a:ext>
            </a:extLst>
          </p:cNvPr>
          <p:cNvSpPr txBox="1"/>
          <p:nvPr/>
        </p:nvSpPr>
        <p:spPr>
          <a:xfrm>
            <a:off x="812800" y="1600200"/>
            <a:ext cx="660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A6964"/>
                </a:solidFill>
                <a:latin typeface="Segoe UI" panose="020B0502040204020203" pitchFamily="34" charset="0"/>
              </a:rPr>
              <a:t>The boundaries we set for this project</a:t>
            </a:r>
            <a:endParaRPr lang="en-PK" sz="15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25CA9519-18C2-6915-9523-F391FAC85EE3}"/>
              </a:ext>
            </a:extLst>
          </p:cNvPr>
          <p:cNvSpPr txBox="1"/>
          <p:nvPr/>
        </p:nvSpPr>
        <p:spPr>
          <a:xfrm>
            <a:off x="812800" y="2006600"/>
            <a:ext cx="6604000" cy="134395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14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600" dirty="0">
                <a:solidFill>
                  <a:srgbClr val="1A3C34"/>
                </a:solidFill>
                <a:latin typeface="Segoe UI" panose="020B0502040204020203" pitchFamily="34" charset="0"/>
              </a:rPr>
              <a:t>Three user roles:  patient, caregiver and admin.</a:t>
            </a:r>
          </a:p>
          <a:p>
            <a:pPr marL="342900" indent="-342900">
              <a:spcAft>
                <a:spcPts val="14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600" dirty="0">
                <a:solidFill>
                  <a:srgbClr val="1A3C34"/>
                </a:solidFill>
                <a:latin typeface="Segoe UI" panose="020B0502040204020203" pitchFamily="34" charset="0"/>
              </a:rPr>
              <a:t>Seven modules covering medicines, routines, faces, memories, chat, reports and alerts.</a:t>
            </a:r>
          </a:p>
          <a:p>
            <a:pPr marL="342900" indent="-342900">
              <a:spcAft>
                <a:spcPts val="14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600" dirty="0">
                <a:solidFill>
                  <a:srgbClr val="1A3C34"/>
                </a:solidFill>
                <a:latin typeface="Segoe UI" panose="020B0502040204020203" pitchFamily="34" charset="0"/>
              </a:rPr>
              <a:t>Runs in a normal web browser, so no special hardware is needed</a:t>
            </a:r>
            <a:r>
              <a:rPr lang="en-US" sz="1600" dirty="0" smtClean="0">
                <a:solidFill>
                  <a:srgbClr val="1A3C34"/>
                </a:solidFill>
                <a:latin typeface="Segoe UI" panose="020B0502040204020203" pitchFamily="34" charset="0"/>
              </a:rPr>
              <a:t>.</a:t>
            </a:r>
            <a:endParaRPr lang="en-US" sz="1600" dirty="0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235502AA-2CA4-AC39-2216-72B51D505F21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700" y="1905000"/>
            <a:ext cx="3302000" cy="3302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D7F0BAA8-F545-3B76-148D-F79EB22611CE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2C332F52-1E16-1FC0-35DC-D7393A005F38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491DF9A1-6164-E81F-594C-882906F46D45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839131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EE8230CD-2EA7-F08A-B533-994FB6DD5E43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00A7AD09-DCDF-F872-DE28-4603C155FB4B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PROBLEM AND SOLUTION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611EF120-F826-BEA6-93AD-D5A954392A72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Methodology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364B0CDF-F4DB-FE90-1739-7B6BC9EE28D0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E02C851-888F-ECCD-0EE6-9EF57EAE78EE}"/>
              </a:ext>
            </a:extLst>
          </p:cNvPr>
          <p:cNvSpPr txBox="1"/>
          <p:nvPr/>
        </p:nvSpPr>
        <p:spPr>
          <a:xfrm>
            <a:off x="812800" y="1600200"/>
            <a:ext cx="660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A6964"/>
                </a:solidFill>
                <a:latin typeface="Segoe UI" panose="020B0502040204020203" pitchFamily="34" charset="0"/>
              </a:rPr>
              <a:t>An iterative and incremental process</a:t>
            </a:r>
            <a:endParaRPr lang="en-PK" sz="15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946012CA-EDF3-873E-F349-CBA39D1CB1C2}"/>
              </a:ext>
            </a:extLst>
          </p:cNvPr>
          <p:cNvSpPr txBox="1"/>
          <p:nvPr/>
        </p:nvSpPr>
        <p:spPr>
          <a:xfrm>
            <a:off x="812800" y="2006600"/>
            <a:ext cx="6604000" cy="19492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14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600">
                <a:solidFill>
                  <a:srgbClr val="1A3C34"/>
                </a:solidFill>
                <a:latin typeface="Segoe UI" panose="020B0502040204020203" pitchFamily="34" charset="0"/>
              </a:rPr>
              <a:t>Phase 1:  requirements gathering and system design.</a:t>
            </a:r>
          </a:p>
          <a:p>
            <a:pPr marL="342900" indent="-342900">
              <a:spcAft>
                <a:spcPts val="14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600">
                <a:solidFill>
                  <a:srgbClr val="1A3C34"/>
                </a:solidFill>
                <a:latin typeface="Segoe UI" panose="020B0502040204020203" pitchFamily="34" charset="0"/>
              </a:rPr>
              <a:t>Phase 2:  core modules for medicines, routines and users.</a:t>
            </a:r>
          </a:p>
          <a:p>
            <a:pPr marL="342900" indent="-342900">
              <a:spcAft>
                <a:spcPts val="14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600">
                <a:solidFill>
                  <a:srgbClr val="1A3C34"/>
                </a:solidFill>
                <a:latin typeface="Segoe UI" panose="020B0502040204020203" pitchFamily="34" charset="0"/>
              </a:rPr>
              <a:t>Phase 3:  face recognition and the chat assistant.</a:t>
            </a:r>
          </a:p>
          <a:p>
            <a:pPr marL="342900" indent="-342900">
              <a:spcAft>
                <a:spcPts val="14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600">
                <a:solidFill>
                  <a:srgbClr val="1A3C34"/>
                </a:solidFill>
                <a:latin typeface="Segoe UI" panose="020B0502040204020203" pitchFamily="34" charset="0"/>
              </a:rPr>
              <a:t>Every module was built, tested with real data and then improved.</a:t>
            </a:r>
          </a:p>
          <a:p>
            <a:pPr marL="342900" indent="-342900">
              <a:spcAft>
                <a:spcPts val="14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600">
                <a:solidFill>
                  <a:srgbClr val="1A3C34"/>
                </a:solidFill>
                <a:latin typeface="Segoe UI" panose="020B0502040204020203" pitchFamily="34" charset="0"/>
              </a:rPr>
              <a:t>Frontend and backend were joined through a REST API and Socket.io.</a:t>
            </a:r>
            <a:endParaRPr lang="en-PK" sz="1600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9F109010-5503-9130-721C-298408371332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700" y="1905000"/>
            <a:ext cx="3302000" cy="3302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BC0BA105-08F2-FA6C-5319-2318EB889B0B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ABBBABDE-EBE5-ECF8-D4E7-C3125F1591F0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EE4BAE7D-201E-A39D-4475-326DE177017A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63651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AAA174C-51DD-F6A3-4082-986FAEEC33FD}"/>
              </a:ext>
            </a:extLst>
          </p:cNvPr>
          <p:cNvSpPr txBox="1"/>
          <p:nvPr/>
        </p:nvSpPr>
        <p:spPr>
          <a:xfrm>
            <a:off x="812800" y="2540000"/>
            <a:ext cx="2540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K" sz="5400" b="1">
                <a:solidFill>
                  <a:srgbClr val="FFFFFF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3B876D62-F97F-D311-3487-393FFE478903}"/>
              </a:ext>
            </a:extLst>
          </p:cNvPr>
          <p:cNvSpPr/>
          <p:nvPr/>
        </p:nvSpPr>
        <p:spPr>
          <a:xfrm>
            <a:off x="812800" y="3403600"/>
            <a:ext cx="660400" cy="381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CE214920-0186-4984-3B86-AC2A983474D5}"/>
              </a:ext>
            </a:extLst>
          </p:cNvPr>
          <p:cNvSpPr txBox="1"/>
          <p:nvPr/>
        </p:nvSpPr>
        <p:spPr>
          <a:xfrm>
            <a:off x="2463800" y="2603500"/>
            <a:ext cx="787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600" b="1">
                <a:solidFill>
                  <a:srgbClr val="FFFFFF"/>
                </a:solidFill>
                <a:latin typeface="Segoe UI" panose="020B0502040204020203" pitchFamily="34" charset="0"/>
              </a:rPr>
              <a:t>System Analysis</a:t>
            </a:r>
            <a:endParaRPr lang="en-PK" sz="36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A151CD7A-EFCC-5CE1-E814-A84C410D03D5}"/>
              </a:ext>
            </a:extLst>
          </p:cNvPr>
          <p:cNvSpPr txBox="1"/>
          <p:nvPr/>
        </p:nvSpPr>
        <p:spPr>
          <a:xfrm>
            <a:off x="2489200" y="3251200"/>
            <a:ext cx="787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FFFFFF"/>
                </a:solidFill>
                <a:latin typeface="Segoe UI" panose="020B0502040204020203" pitchFamily="34" charset="0"/>
              </a:rPr>
              <a:t>Understanding what the system must do</a:t>
            </a:r>
            <a:endParaRPr lang="en-PK" sz="15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973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7AA0BD03-2B5C-348D-F9D8-98C4EC1A66F4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1B03ECD-2A24-D486-C4E9-AFD2CE80AAD6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SYSTEM ANALYSIS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2CDCC111-9123-1EE9-FE02-A6881C32B417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Use Case Diagram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2ADBCA8-A0F2-D2D2-02D9-FDBF2623312C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D8B0F129-AF83-E399-0D79-58604D6A26D8}"/>
              </a:ext>
            </a:extLst>
          </p:cNvPr>
          <p:cNvSpPr/>
          <p:nvPr/>
        </p:nvSpPr>
        <p:spPr>
          <a:xfrm>
            <a:off x="558800" y="1422400"/>
            <a:ext cx="8204200" cy="482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58BB0373-9421-1055-CAED-57F377D7DA98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" y="1524000"/>
            <a:ext cx="7391400" cy="46228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1A6A74F2-A563-1B9A-5FCF-0C05BFC54AC3}"/>
              </a:ext>
            </a:extLst>
          </p:cNvPr>
          <p:cNvSpPr/>
          <p:nvPr/>
        </p:nvSpPr>
        <p:spPr>
          <a:xfrm>
            <a:off x="8966200" y="1422400"/>
            <a:ext cx="2667000" cy="48260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BA01229D-A9E7-F5E1-16F6-59F662AB9FEB}"/>
              </a:ext>
            </a:extLst>
          </p:cNvPr>
          <p:cNvSpPr/>
          <p:nvPr/>
        </p:nvSpPr>
        <p:spPr>
          <a:xfrm>
            <a:off x="8966200" y="1422400"/>
            <a:ext cx="38100" cy="4826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73E6D799-DA1E-5368-7A39-579A0FC73191}"/>
              </a:ext>
            </a:extLst>
          </p:cNvPr>
          <p:cNvSpPr txBox="1"/>
          <p:nvPr/>
        </p:nvSpPr>
        <p:spPr>
          <a:xfrm>
            <a:off x="9169400" y="1651000"/>
            <a:ext cx="2286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>
                <a:solidFill>
                  <a:srgbClr val="0D9488"/>
                </a:solidFill>
                <a:latin typeface="Segoe UI" panose="020B0502040204020203" pitchFamily="34" charset="0"/>
              </a:rPr>
              <a:t>WHAT IT SHOWS</a:t>
            </a:r>
            <a:endParaRPr lang="en-PK" sz="95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AE6C5ABF-73DE-E3A2-8F29-ABC3EE02EEF0}"/>
              </a:ext>
            </a:extLst>
          </p:cNvPr>
          <p:cNvSpPr txBox="1"/>
          <p:nvPr/>
        </p:nvSpPr>
        <p:spPr>
          <a:xfrm>
            <a:off x="9169400" y="1955800"/>
            <a:ext cx="2260600" cy="215443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Purpose: what each user is able to do in the system.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On the left: Patient and Caregiver, our primary actors.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On the right: Admin, plus Wit.ai and Time as supporting actors.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Inside the box: the use cases, grouped by role.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Notation: include is a step that always runs, extend is optional.</a:t>
            </a:r>
            <a:endParaRPr lang="en-PK" sz="1100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A98B4FF1-5344-2AC9-0315-33DF5F6DE215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ADC9DA71-DD7D-5212-1245-B3A123EB3B02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D4F50D9C-59EB-0FF2-0205-53F5FE13D55A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71583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4D8153FA-5443-74C5-3D44-647C609EF8E9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08BAC941-B505-400A-D9D4-FE5D42987F21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SYSTEM ANALYSIS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9BF34ED-BF94-AAC1-1477-1C6629B8777E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Domain Model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1AD7070A-347B-C169-B770-C35EDB62D239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071CE619-0300-9FEC-7879-C5D0918834C3}"/>
              </a:ext>
            </a:extLst>
          </p:cNvPr>
          <p:cNvSpPr/>
          <p:nvPr/>
        </p:nvSpPr>
        <p:spPr>
          <a:xfrm>
            <a:off x="558800" y="1422400"/>
            <a:ext cx="8204200" cy="482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7467880-ECFA-2F07-B68F-22DE3AEC2BCD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1739900"/>
            <a:ext cx="8001000" cy="4191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B9E67F9F-D295-29F5-369D-7051CCF5EBEE}"/>
              </a:ext>
            </a:extLst>
          </p:cNvPr>
          <p:cNvSpPr/>
          <p:nvPr/>
        </p:nvSpPr>
        <p:spPr>
          <a:xfrm>
            <a:off x="8966200" y="1422400"/>
            <a:ext cx="2667000" cy="48260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FB89D4CE-5A24-FEB2-103B-5628C99EDF45}"/>
              </a:ext>
            </a:extLst>
          </p:cNvPr>
          <p:cNvSpPr/>
          <p:nvPr/>
        </p:nvSpPr>
        <p:spPr>
          <a:xfrm>
            <a:off x="8966200" y="1422400"/>
            <a:ext cx="38100" cy="4826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EF1E704C-04FC-6E86-DA3D-C77916DFCFCF}"/>
              </a:ext>
            </a:extLst>
          </p:cNvPr>
          <p:cNvSpPr txBox="1"/>
          <p:nvPr/>
        </p:nvSpPr>
        <p:spPr>
          <a:xfrm>
            <a:off x="9169400" y="1651000"/>
            <a:ext cx="2286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>
                <a:solidFill>
                  <a:srgbClr val="0D9488"/>
                </a:solidFill>
                <a:latin typeface="Segoe UI" panose="020B0502040204020203" pitchFamily="34" charset="0"/>
              </a:rPr>
              <a:t>WHAT IT SHOWS</a:t>
            </a:r>
            <a:endParaRPr lang="en-PK" sz="95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09EE26C3-0387-A7D1-58CA-F553026C0E19}"/>
              </a:ext>
            </a:extLst>
          </p:cNvPr>
          <p:cNvSpPr txBox="1"/>
          <p:nvPr/>
        </p:nvSpPr>
        <p:spPr>
          <a:xfrm>
            <a:off x="9169400" y="1955800"/>
            <a:ext cx="2260600" cy="294696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Purpose: the real world ideas behind the system.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The Patient sits at the centre of everything.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A patient takes medicines, follows routines and knows faces.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Every dose and every activity is written into a log.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A caregiver cares for one or more patients.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Only ideas and data here, no methods, because this is analysis.</a:t>
            </a:r>
            <a:endParaRPr lang="en-PK" sz="1100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67E8E3D6-F211-821A-971C-C09C659EA33A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3A684543-0568-5144-C97C-ED3053A9256C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B05FB048-420B-F0AB-95FC-72F001454141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219714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D83CF46B-C5E7-6240-7471-859BFCBF8004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3D8CEA-0ACF-470A-E5AF-65B630103CC4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SYSTEM ANALYSIS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D2C51B81-B0C5-96F8-6E39-EF53F4A232CD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SSD: Take Medication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04388F6C-C4D5-E349-C40E-3206ACCA713F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48EEDCE7-10F0-DA7D-905C-70E4F9212C41}"/>
              </a:ext>
            </a:extLst>
          </p:cNvPr>
          <p:cNvSpPr/>
          <p:nvPr/>
        </p:nvSpPr>
        <p:spPr>
          <a:xfrm>
            <a:off x="558800" y="1422400"/>
            <a:ext cx="8204200" cy="482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61E8E9E0-F5A3-14B8-FA8C-726E471B3F4C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100" y="1524000"/>
            <a:ext cx="6197600" cy="46228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5A225588-C5F8-35D2-0FBB-467F3772C37E}"/>
              </a:ext>
            </a:extLst>
          </p:cNvPr>
          <p:cNvSpPr/>
          <p:nvPr/>
        </p:nvSpPr>
        <p:spPr>
          <a:xfrm>
            <a:off x="8966200" y="1422400"/>
            <a:ext cx="2667000" cy="48260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DB2A5DFA-2329-F063-D5B1-568653CCF945}"/>
              </a:ext>
            </a:extLst>
          </p:cNvPr>
          <p:cNvSpPr/>
          <p:nvPr/>
        </p:nvSpPr>
        <p:spPr>
          <a:xfrm>
            <a:off x="8966200" y="1422400"/>
            <a:ext cx="38100" cy="4826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5AF1C5DC-6FED-7FAD-DE0E-EB7EAB5F6C05}"/>
              </a:ext>
            </a:extLst>
          </p:cNvPr>
          <p:cNvSpPr txBox="1"/>
          <p:nvPr/>
        </p:nvSpPr>
        <p:spPr>
          <a:xfrm>
            <a:off x="9169400" y="1651000"/>
            <a:ext cx="2286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>
                <a:solidFill>
                  <a:srgbClr val="0D9488"/>
                </a:solidFill>
                <a:latin typeface="Segoe UI" panose="020B0502040204020203" pitchFamily="34" charset="0"/>
              </a:rPr>
              <a:t>WHAT IT SHOWS</a:t>
            </a:r>
            <a:endParaRPr lang="en-PK" sz="95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22AD240E-BCD9-0A21-7FAC-EB11B2671FEB}"/>
              </a:ext>
            </a:extLst>
          </p:cNvPr>
          <p:cNvSpPr txBox="1"/>
          <p:nvPr/>
        </p:nvSpPr>
        <p:spPr>
          <a:xfrm>
            <a:off x="9169400" y="1955800"/>
            <a:ext cx="2260600" cy="232371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Purpose: the Take Medication scenario, step by step.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The patient asks for today's medicines and the system returns the list.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Then each dose that is due is marked as taken.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The loop frame means this repeats for every dose.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Every call returns a confirmation back to the patient.</a:t>
            </a:r>
            <a:endParaRPr lang="en-PK" sz="1100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47C2FA16-0BC2-66AE-A14E-BBDBCD0027EA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F82370F3-B2D1-9F38-D157-503AA25958AE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D9358325-98C2-AF1E-817F-1B0DB48EFB31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080345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FE918D33-BBA2-796A-7C40-E772964EBA3D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5E6CD14C-83F3-42FE-1B9B-83777AEF6052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SYSTEM ANALYSIS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97CFE06D-0AA5-E2A0-2879-EC137577D832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SSD: Chat with Assistant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056081D2-04A2-FAC5-6801-054660BA2C73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80070FFA-86CD-7246-CD4C-E40AF97606A3}"/>
              </a:ext>
            </a:extLst>
          </p:cNvPr>
          <p:cNvSpPr/>
          <p:nvPr/>
        </p:nvSpPr>
        <p:spPr>
          <a:xfrm>
            <a:off x="558800" y="1422400"/>
            <a:ext cx="8204200" cy="482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D006AFC-BE8F-3490-8695-DC30D8DE4E0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0" y="1524000"/>
            <a:ext cx="7454900" cy="46228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BB71C75E-D4DD-3686-41FF-8C3F5FF9E50D}"/>
              </a:ext>
            </a:extLst>
          </p:cNvPr>
          <p:cNvSpPr/>
          <p:nvPr/>
        </p:nvSpPr>
        <p:spPr>
          <a:xfrm>
            <a:off x="8966200" y="1422400"/>
            <a:ext cx="2667000" cy="48260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30338A8-9B45-74C3-FA43-4ADEE233DF62}"/>
              </a:ext>
            </a:extLst>
          </p:cNvPr>
          <p:cNvSpPr/>
          <p:nvPr/>
        </p:nvSpPr>
        <p:spPr>
          <a:xfrm>
            <a:off x="8966200" y="1422400"/>
            <a:ext cx="38100" cy="4826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248A37F6-1F10-64A8-ADC0-9798D3D85AB4}"/>
              </a:ext>
            </a:extLst>
          </p:cNvPr>
          <p:cNvSpPr txBox="1"/>
          <p:nvPr/>
        </p:nvSpPr>
        <p:spPr>
          <a:xfrm>
            <a:off x="9169400" y="1651000"/>
            <a:ext cx="2286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>
                <a:solidFill>
                  <a:srgbClr val="0D9488"/>
                </a:solidFill>
                <a:latin typeface="Segoe UI" panose="020B0502040204020203" pitchFamily="34" charset="0"/>
              </a:rPr>
              <a:t>WHAT IT SHOWS</a:t>
            </a:r>
            <a:endParaRPr lang="en-PK" sz="95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7F8FC0FA-DFE6-76F7-B7C9-0178860948A2}"/>
              </a:ext>
            </a:extLst>
          </p:cNvPr>
          <p:cNvSpPr txBox="1"/>
          <p:nvPr/>
        </p:nvSpPr>
        <p:spPr>
          <a:xfrm>
            <a:off x="9169400" y="1955800"/>
            <a:ext cx="2260600" cy="20390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Purpose: the chat scenario between the patient and the assistant.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One call carries the patient, the message, the mode and the language.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The system returns a reply written in simple words.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The loop frame runs for as long as the patient keeps chatting.</a:t>
            </a:r>
            <a:endParaRPr lang="en-PK" sz="1100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710246C7-6458-9FA0-F47C-1A9E54A9CBAF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7167F0ED-DD35-871F-6C2B-59EADDF67B00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C7B5A83F-19F9-4FEE-880B-A8CCD92AE041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455125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E0595C69-2994-170E-89EC-F51208A9DD17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DB7753E7-8337-95DB-C1A1-0772BA4038E9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SYSTEM ANALYSIS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7F4ECC68-3EBD-3947-EE07-D6D3A6C9BA0C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SSD: Recognize Face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DA9999E6-F7D2-9E38-60FA-0C01D419AB91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8AABC43B-15F6-FD15-F609-AF82D81341A2}"/>
              </a:ext>
            </a:extLst>
          </p:cNvPr>
          <p:cNvSpPr/>
          <p:nvPr/>
        </p:nvSpPr>
        <p:spPr>
          <a:xfrm>
            <a:off x="558800" y="1422400"/>
            <a:ext cx="8204200" cy="482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3E4E8489-534B-98B3-BDDA-609B7DB3913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" y="1524000"/>
            <a:ext cx="7124700" cy="46228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475EADD4-C04E-ECCD-8ADF-0458FCB2632B}"/>
              </a:ext>
            </a:extLst>
          </p:cNvPr>
          <p:cNvSpPr/>
          <p:nvPr/>
        </p:nvSpPr>
        <p:spPr>
          <a:xfrm>
            <a:off x="8966200" y="1422400"/>
            <a:ext cx="2667000" cy="48260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D17167FE-66E8-7E21-EA52-99DB5A1E8342}"/>
              </a:ext>
            </a:extLst>
          </p:cNvPr>
          <p:cNvSpPr/>
          <p:nvPr/>
        </p:nvSpPr>
        <p:spPr>
          <a:xfrm>
            <a:off x="8966200" y="1422400"/>
            <a:ext cx="38100" cy="4826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E79B429-F1EF-0D68-A48E-08A6C5A605A3}"/>
              </a:ext>
            </a:extLst>
          </p:cNvPr>
          <p:cNvSpPr txBox="1"/>
          <p:nvPr/>
        </p:nvSpPr>
        <p:spPr>
          <a:xfrm>
            <a:off x="9169400" y="1651000"/>
            <a:ext cx="2286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>
                <a:solidFill>
                  <a:srgbClr val="0D9488"/>
                </a:solidFill>
                <a:latin typeface="Segoe UI" panose="020B0502040204020203" pitchFamily="34" charset="0"/>
              </a:rPr>
              <a:t>WHAT IT SHOWS</a:t>
            </a:r>
            <a:endParaRPr lang="en-PK" sz="95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0BEFF554-24C6-D77F-98D0-1357F79B8DF3}"/>
              </a:ext>
            </a:extLst>
          </p:cNvPr>
          <p:cNvSpPr txBox="1"/>
          <p:nvPr/>
        </p:nvSpPr>
        <p:spPr>
          <a:xfrm>
            <a:off x="9169400" y="1955800"/>
            <a:ext cx="2260600" cy="232371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Purpose: the face recognition scenario from camera to result.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The patient captures a face and it goes in with their id.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The alt frame gives us two possible outcomes.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A known face returns the name and the relationship.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An unknown face returns unknown and alerts the caregiver.</a:t>
            </a:r>
            <a:endParaRPr lang="en-PK" sz="1100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06F12331-81D2-CD04-E325-B1731BBFD89D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8121D9A-9046-55F0-75B9-F1C713CC0DEE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AEC47166-1752-5903-2932-0C6F5AFF9C3B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335135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1F935DC6-4DE4-A4E5-BB1C-AF01CDB21E1F}"/>
              </a:ext>
            </a:extLst>
          </p:cNvPr>
          <p:cNvSpPr txBox="1"/>
          <p:nvPr/>
        </p:nvSpPr>
        <p:spPr>
          <a:xfrm>
            <a:off x="812800" y="2540000"/>
            <a:ext cx="2540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K" sz="5400" b="1">
                <a:solidFill>
                  <a:srgbClr val="FFFFFF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C8FF6AC2-543C-7A9D-78B8-3C62A8873FDD}"/>
              </a:ext>
            </a:extLst>
          </p:cNvPr>
          <p:cNvSpPr/>
          <p:nvPr/>
        </p:nvSpPr>
        <p:spPr>
          <a:xfrm>
            <a:off x="812800" y="3403600"/>
            <a:ext cx="660400" cy="381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708C8B86-AC25-10B8-A699-36051D021841}"/>
              </a:ext>
            </a:extLst>
          </p:cNvPr>
          <p:cNvSpPr txBox="1"/>
          <p:nvPr/>
        </p:nvSpPr>
        <p:spPr>
          <a:xfrm>
            <a:off x="2463800" y="2603500"/>
            <a:ext cx="787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600" b="1">
                <a:solidFill>
                  <a:srgbClr val="FFFFFF"/>
                </a:solidFill>
                <a:latin typeface="Segoe UI" panose="020B0502040204020203" pitchFamily="34" charset="0"/>
              </a:rPr>
              <a:t>System Design</a:t>
            </a:r>
            <a:endParaRPr lang="en-PK" sz="36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61CCD5D-9DF7-2F57-8D23-C79F5C09A049}"/>
              </a:ext>
            </a:extLst>
          </p:cNvPr>
          <p:cNvSpPr txBox="1"/>
          <p:nvPr/>
        </p:nvSpPr>
        <p:spPr>
          <a:xfrm>
            <a:off x="2489200" y="3251200"/>
            <a:ext cx="787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FFFFFF"/>
                </a:solidFill>
                <a:latin typeface="Segoe UI" panose="020B0502040204020203" pitchFamily="34" charset="0"/>
              </a:rPr>
              <a:t>How the system is structured</a:t>
            </a:r>
            <a:endParaRPr lang="en-PK" sz="15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2578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A95F7F45-054B-7705-0101-5EABFC4B0FAD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825E3EB-051D-26A6-97B9-A1C7550E4843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SYSTEM DESIGN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A6040BF-E78D-2511-372F-6EE558591836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Entity Relationship Diagram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6081F6B-6370-0023-47A2-B118092A2CCC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255F693B-4F19-1113-99A5-BF84109F3314}"/>
              </a:ext>
            </a:extLst>
          </p:cNvPr>
          <p:cNvSpPr/>
          <p:nvPr/>
        </p:nvSpPr>
        <p:spPr>
          <a:xfrm>
            <a:off x="558800" y="1422400"/>
            <a:ext cx="8204200" cy="482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4FC681F-8752-1BD8-0504-4913EA32FEB9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1524000"/>
            <a:ext cx="6832600" cy="46228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91F84341-64F9-6937-9BC2-12FE300A15BF}"/>
              </a:ext>
            </a:extLst>
          </p:cNvPr>
          <p:cNvSpPr/>
          <p:nvPr/>
        </p:nvSpPr>
        <p:spPr>
          <a:xfrm>
            <a:off x="8966200" y="1422400"/>
            <a:ext cx="2667000" cy="48260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362AD504-D352-6225-9DC7-20886E28738D}"/>
              </a:ext>
            </a:extLst>
          </p:cNvPr>
          <p:cNvSpPr/>
          <p:nvPr/>
        </p:nvSpPr>
        <p:spPr>
          <a:xfrm>
            <a:off x="8966200" y="1422400"/>
            <a:ext cx="38100" cy="4826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131200C-2E04-B355-29EE-72875CCA34F7}"/>
              </a:ext>
            </a:extLst>
          </p:cNvPr>
          <p:cNvSpPr txBox="1"/>
          <p:nvPr/>
        </p:nvSpPr>
        <p:spPr>
          <a:xfrm>
            <a:off x="9169400" y="1651000"/>
            <a:ext cx="2286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>
                <a:solidFill>
                  <a:srgbClr val="0D9488"/>
                </a:solidFill>
                <a:latin typeface="Segoe UI" panose="020B0502040204020203" pitchFamily="34" charset="0"/>
              </a:rPr>
              <a:t>WHAT IT SHOWS</a:t>
            </a:r>
            <a:endParaRPr lang="en-PK" sz="95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620AD800-01B8-C080-E4DC-2C96EAA4BBE2}"/>
              </a:ext>
            </a:extLst>
          </p:cNvPr>
          <p:cNvSpPr txBox="1"/>
          <p:nvPr/>
        </p:nvSpPr>
        <p:spPr>
          <a:xfrm>
            <a:off x="9169400" y="1955800"/>
            <a:ext cx="2260600" cy="27776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Purpose: how our data is actually stored in the database.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Sixteen entities, each one a rectangle with its attributes.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PK marks the primary key, the unique identity of that entity.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The verb on each line names the relationship, for example Takes or Records.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1 to 0..* reads as one patient can have many medicines.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Optional, Or means a user is either a patient or a caregiver.</a:t>
            </a:r>
            <a:endParaRPr lang="en-PK" sz="1100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7B22D541-082A-6402-7C57-AA1147AC9EC9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EFC03E84-0A83-FC20-172C-4171332738F9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D85C9607-3727-B438-0047-F0960E47C1AE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1767915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C46ACD00-779B-DE3A-4704-23D9BFC850CE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1537BB45-7C31-7B7F-1D87-03A76AD11B27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SYSTEM DESIGN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5D4DCCB-3544-73C2-9998-F4BCBBE31A7E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Class Diagram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48095EA4-07EB-F213-FC60-FF599532B066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E99E8556-81DB-7E49-689E-B263FAC17BBB}"/>
              </a:ext>
            </a:extLst>
          </p:cNvPr>
          <p:cNvSpPr/>
          <p:nvPr/>
        </p:nvSpPr>
        <p:spPr>
          <a:xfrm>
            <a:off x="558800" y="1397000"/>
            <a:ext cx="11074400" cy="419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D4D2EE58-F899-29DC-6395-660869B325AE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0" y="1473200"/>
            <a:ext cx="10312400" cy="4038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5CB8945-92CD-D935-3298-7FDF34735308}"/>
              </a:ext>
            </a:extLst>
          </p:cNvPr>
          <p:cNvSpPr txBox="1"/>
          <p:nvPr/>
        </p:nvSpPr>
        <p:spPr>
          <a:xfrm>
            <a:off x="660400" y="5740400"/>
            <a:ext cx="5334000" cy="53860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28600" indent="-228600">
              <a:spcAft>
                <a:spcPts val="3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000">
                <a:solidFill>
                  <a:srgbClr val="1A3C34"/>
                </a:solidFill>
                <a:latin typeface="Segoe UI" panose="020B0502040204020203" pitchFamily="34" charset="0"/>
              </a:rPr>
              <a:t>Purpose: the software design, so unlike the domain model this one also shows operations.</a:t>
            </a:r>
          </a:p>
          <a:p>
            <a:pPr marL="228600" indent="-228600">
              <a:spcAft>
                <a:spcPts val="3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000">
                <a:solidFill>
                  <a:srgbClr val="1A3C34"/>
                </a:solidFill>
                <a:latin typeface="Segoe UI" panose="020B0502040204020203" pitchFamily="34" charset="0"/>
              </a:rPr>
              <a:t>Top band: the security checks and the reminder scheduler.</a:t>
            </a:r>
          </a:p>
          <a:p>
            <a:pPr marL="228600" indent="-228600">
              <a:spcAft>
                <a:spcPts val="3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000">
                <a:solidFill>
                  <a:srgbClr val="1A3C34"/>
                </a:solidFill>
                <a:latin typeface="Segoe UI" panose="020B0502040204020203" pitchFamily="34" charset="0"/>
              </a:rPr>
              <a:t>Middle band: the controllers, one for each main feature.</a:t>
            </a:r>
            <a:endParaRPr lang="en-PK" sz="1000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D724DC4-E84D-5EB5-EB64-922396E4BF13}"/>
              </a:ext>
            </a:extLst>
          </p:cNvPr>
          <p:cNvSpPr txBox="1"/>
          <p:nvPr/>
        </p:nvSpPr>
        <p:spPr>
          <a:xfrm>
            <a:off x="6299200" y="5740400"/>
            <a:ext cx="5334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28600" indent="-228600">
              <a:spcAft>
                <a:spcPts val="3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000">
                <a:solidFill>
                  <a:srgbClr val="1A3C34"/>
                </a:solidFill>
                <a:latin typeface="Segoe UI" panose="020B0502040204020203" pitchFamily="34" charset="0"/>
              </a:rPr>
              <a:t>Bottom bands: the models, which map onto the database collections.</a:t>
            </a:r>
          </a:p>
          <a:p>
            <a:pPr marL="228600" indent="-228600">
              <a:spcAft>
                <a:spcPts val="3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000">
                <a:solidFill>
                  <a:srgbClr val="1A3C34"/>
                </a:solidFill>
                <a:latin typeface="Segoe UI" panose="020B0502040204020203" pitchFamily="34" charset="0"/>
              </a:rPr>
              <a:t>The IntentClassifier holds our three tier chat cascade.</a:t>
            </a:r>
          </a:p>
          <a:p>
            <a:pPr marL="228600" indent="-228600">
              <a:spcAft>
                <a:spcPts val="3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000">
                <a:solidFill>
                  <a:srgbClr val="1A3C34"/>
                </a:solidFill>
                <a:latin typeface="Segoe UI" panose="020B0502040204020203" pitchFamily="34" charset="0"/>
              </a:rPr>
              <a:t>Notation: hollow triangle is inheritance, filled diamond is composition, curly braces are a rule.</a:t>
            </a:r>
            <a:endParaRPr lang="en-PK" sz="1000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4D2E4C31-131A-1702-AA6B-B1F5FBBE2224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BCC31B28-CD01-FA37-E722-65293C2C11FE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E0AC5FE-083A-9AD0-578A-7C779770F70C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8474722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78AA3712-993E-8CD7-2ECD-AF43A9F98D5D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915861C-4629-5DFC-33BE-ACE108FB86E9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SYSTEM DESIGN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DFFD938C-6EA2-624B-6518-C069A5EE503F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System Architecture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5E17500E-1AE6-D567-E792-39367C08BE5B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2ED20493-3235-DC51-EE44-7DB172B4A5F2}"/>
              </a:ext>
            </a:extLst>
          </p:cNvPr>
          <p:cNvSpPr/>
          <p:nvPr/>
        </p:nvSpPr>
        <p:spPr>
          <a:xfrm>
            <a:off x="558800" y="1422400"/>
            <a:ext cx="8204200" cy="482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3E024811-06F3-7DE9-5C8D-98DECB19B18E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800" y="1524000"/>
            <a:ext cx="5410200" cy="46228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03962B30-9B46-94A2-E0B1-5C242D51E3DC}"/>
              </a:ext>
            </a:extLst>
          </p:cNvPr>
          <p:cNvSpPr/>
          <p:nvPr/>
        </p:nvSpPr>
        <p:spPr>
          <a:xfrm>
            <a:off x="8966200" y="1422400"/>
            <a:ext cx="2667000" cy="48260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758A86C5-EEE8-2D29-E4BA-4A6281DCBA46}"/>
              </a:ext>
            </a:extLst>
          </p:cNvPr>
          <p:cNvSpPr/>
          <p:nvPr/>
        </p:nvSpPr>
        <p:spPr>
          <a:xfrm>
            <a:off x="8966200" y="1422400"/>
            <a:ext cx="38100" cy="4826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BB0C468C-961B-932B-1F75-E45F0DCAB106}"/>
              </a:ext>
            </a:extLst>
          </p:cNvPr>
          <p:cNvSpPr txBox="1"/>
          <p:nvPr/>
        </p:nvSpPr>
        <p:spPr>
          <a:xfrm>
            <a:off x="9169400" y="1651000"/>
            <a:ext cx="2286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>
                <a:solidFill>
                  <a:srgbClr val="0D9488"/>
                </a:solidFill>
                <a:latin typeface="Segoe UI" panose="020B0502040204020203" pitchFamily="34" charset="0"/>
              </a:rPr>
              <a:t>WHAT IT SHOWS</a:t>
            </a:r>
            <a:endParaRPr lang="en-PK" sz="95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48314FED-2050-DFB1-195E-EE4AF2066EE8}"/>
              </a:ext>
            </a:extLst>
          </p:cNvPr>
          <p:cNvSpPr txBox="1"/>
          <p:nvPr/>
        </p:nvSpPr>
        <p:spPr>
          <a:xfrm>
            <a:off x="9169400" y="1955800"/>
            <a:ext cx="2260600" cy="232371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Purpose: how the whole system is put together, layer by layer.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Browser layer: the user interface and the face matching.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Server layer: controllers, security and the reminder scheduler.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AI layer: Wit.ai understands the chat, an offline model is the backup.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Data layer: MongoDB stores every collection.</a:t>
            </a:r>
            <a:endParaRPr lang="en-PK" sz="1100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5F3F965D-92F7-3E4E-6BA0-FEA04E4668B0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5F9212FD-4D6E-3F44-C9F3-2FD9C5E96BB9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6A1AD2D7-C2D7-351C-A66E-7F06C9AA700F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762368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9B1FFD68-7787-2494-ED7C-9C1D0E8FF28A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A8BAEDE-298F-1158-9C17-8B39AE0FE656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SYSTEM DESIGN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5EB6EE26-D9C6-23A9-81DF-6007FA4EF327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Sequence Diagram: Take Medication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9CA7595-D70C-1EDE-EB68-B729D3826B4B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03004270-2862-26F4-EB9D-5874E2ED2957}"/>
              </a:ext>
            </a:extLst>
          </p:cNvPr>
          <p:cNvSpPr/>
          <p:nvPr/>
        </p:nvSpPr>
        <p:spPr>
          <a:xfrm>
            <a:off x="558800" y="1422400"/>
            <a:ext cx="8204200" cy="482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CB746FE5-E460-46F0-77D3-D14B23B7B28B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1600200"/>
            <a:ext cx="8001000" cy="44577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FEBA4CDE-BD39-794B-5779-CC5D06633A7C}"/>
              </a:ext>
            </a:extLst>
          </p:cNvPr>
          <p:cNvSpPr/>
          <p:nvPr/>
        </p:nvSpPr>
        <p:spPr>
          <a:xfrm>
            <a:off x="8966200" y="1422400"/>
            <a:ext cx="2667000" cy="48260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189F2B95-62FB-B367-9C16-421193C38835}"/>
              </a:ext>
            </a:extLst>
          </p:cNvPr>
          <p:cNvSpPr/>
          <p:nvPr/>
        </p:nvSpPr>
        <p:spPr>
          <a:xfrm>
            <a:off x="8966200" y="1422400"/>
            <a:ext cx="38100" cy="4826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880A88BC-321A-804B-6151-AAB78B6BB877}"/>
              </a:ext>
            </a:extLst>
          </p:cNvPr>
          <p:cNvSpPr txBox="1"/>
          <p:nvPr/>
        </p:nvSpPr>
        <p:spPr>
          <a:xfrm>
            <a:off x="9169400" y="1651000"/>
            <a:ext cx="2286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>
                <a:solidFill>
                  <a:srgbClr val="0D9488"/>
                </a:solidFill>
                <a:latin typeface="Segoe UI" panose="020B0502040204020203" pitchFamily="34" charset="0"/>
              </a:rPr>
              <a:t>WHAT IT SHOWS</a:t>
            </a:r>
            <a:endParaRPr lang="en-PK" sz="95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88D4671E-4EAC-6814-F88B-702D7F69112A}"/>
              </a:ext>
            </a:extLst>
          </p:cNvPr>
          <p:cNvSpPr txBox="1"/>
          <p:nvPr/>
        </p:nvSpPr>
        <p:spPr>
          <a:xfrm>
            <a:off x="9169400" y="1955800"/>
            <a:ext cx="2260600" cy="328551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Purpose: what happens inside the system when a dose is marked taken.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The page sends the request, and the login check runs first.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A separate guard then checks this patient really belongs to this user.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The alt frame is the important part: if today's log already exists we update it, otherwise we create a new one.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That is why pressing the button twice cannot create two records.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Finally a live update is pushed and the screen shows Taken.</a:t>
            </a:r>
            <a:endParaRPr lang="en-PK" sz="1100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7B28EBCD-7DD1-CB32-108D-F8788F686C77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C8C81AC-6905-544A-4FB6-45A90660BD17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7B62BDAA-5C27-E4B3-A745-79D3FC1BEEB2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857898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66B234F0-D6F4-7B00-1B0C-A0651DD7007F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35685F8-2343-3EB5-85B6-A41E14D369AA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SYSTEM DESIGN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62654327-9287-0DD5-B48F-F98D27BFC402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Sequence Diagram: Chat with Assistant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CE20BDBC-115E-8B3F-4FD6-2E66C1EF0349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426684ED-7A92-A415-83F6-7DFDB22441B4}"/>
              </a:ext>
            </a:extLst>
          </p:cNvPr>
          <p:cNvSpPr/>
          <p:nvPr/>
        </p:nvSpPr>
        <p:spPr>
          <a:xfrm>
            <a:off x="558800" y="1422400"/>
            <a:ext cx="8204200" cy="482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6D2821D9-7856-16BF-90BF-7981F6B030FE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1524000"/>
            <a:ext cx="8001000" cy="46228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F1BAF5A8-E0CF-39E7-4DA6-4EE72B4745BA}"/>
              </a:ext>
            </a:extLst>
          </p:cNvPr>
          <p:cNvSpPr/>
          <p:nvPr/>
        </p:nvSpPr>
        <p:spPr>
          <a:xfrm>
            <a:off x="8966200" y="1422400"/>
            <a:ext cx="2667000" cy="48260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9209635F-E854-BBFD-C5E6-C1A9298E18FE}"/>
              </a:ext>
            </a:extLst>
          </p:cNvPr>
          <p:cNvSpPr/>
          <p:nvPr/>
        </p:nvSpPr>
        <p:spPr>
          <a:xfrm>
            <a:off x="8966200" y="1422400"/>
            <a:ext cx="38100" cy="4826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562EAC46-9962-D013-E54B-CD205A54A833}"/>
              </a:ext>
            </a:extLst>
          </p:cNvPr>
          <p:cNvSpPr txBox="1"/>
          <p:nvPr/>
        </p:nvSpPr>
        <p:spPr>
          <a:xfrm>
            <a:off x="9169400" y="1651000"/>
            <a:ext cx="2286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>
                <a:solidFill>
                  <a:srgbClr val="0D9488"/>
                </a:solidFill>
                <a:latin typeface="Segoe UI" panose="020B0502040204020203" pitchFamily="34" charset="0"/>
              </a:rPr>
              <a:t>WHAT IT SHOWS</a:t>
            </a:r>
            <a:endParaRPr lang="en-PK" sz="95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FB6AD06F-B3F3-3AB9-2CF3-5EF5D9F70A00}"/>
              </a:ext>
            </a:extLst>
          </p:cNvPr>
          <p:cNvSpPr txBox="1"/>
          <p:nvPr/>
        </p:nvSpPr>
        <p:spPr>
          <a:xfrm>
            <a:off x="9169400" y="1955800"/>
            <a:ext cx="2260600" cy="232371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Purpose: what happens inside when a patient sends a message.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This is the same flow as the SSD, but now the box is open.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The alt frame shows our three tier cascade in order.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Tier one Wit.ai, tier two our offline model, tier three keyword rules.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Then the reply is filled with the patient's own records and saved.</a:t>
            </a:r>
            <a:endParaRPr lang="en-PK" sz="1100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84A54CD2-5AC4-1EB3-145E-D9E391AC17D9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D9C29AFF-C645-944E-78D5-A5A159ADA098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C3BFCFBF-E34B-13E5-CD54-116D22848E57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7023178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1760EED7-4AF9-F67B-2794-31B1D372E201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A4ED05E-A801-4EA7-1955-93B4BE05D299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SYSTEM DESIGN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97DA7975-85DC-7BC0-0292-917F744E2BBA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Sequence Diagram: Recognize Face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9F012BFC-7BE0-EA7A-850C-69BD8984FFCA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15A1BE4E-319B-6D94-83D1-C27EC2DA8D5A}"/>
              </a:ext>
            </a:extLst>
          </p:cNvPr>
          <p:cNvSpPr/>
          <p:nvPr/>
        </p:nvSpPr>
        <p:spPr>
          <a:xfrm>
            <a:off x="558800" y="1422400"/>
            <a:ext cx="8204200" cy="482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636239E-5248-3849-7749-208FDC148E3E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1701800"/>
            <a:ext cx="8001000" cy="42799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A48B5AB2-5AA9-E59B-592F-43278CFA123C}"/>
              </a:ext>
            </a:extLst>
          </p:cNvPr>
          <p:cNvSpPr/>
          <p:nvPr/>
        </p:nvSpPr>
        <p:spPr>
          <a:xfrm>
            <a:off x="8966200" y="1422400"/>
            <a:ext cx="2667000" cy="48260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B674AC34-A508-3042-E4B9-2F8AF96F62A0}"/>
              </a:ext>
            </a:extLst>
          </p:cNvPr>
          <p:cNvSpPr/>
          <p:nvPr/>
        </p:nvSpPr>
        <p:spPr>
          <a:xfrm>
            <a:off x="8966200" y="1422400"/>
            <a:ext cx="38100" cy="4826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D343EE83-6979-137C-F2A6-6A5A6E46502B}"/>
              </a:ext>
            </a:extLst>
          </p:cNvPr>
          <p:cNvSpPr txBox="1"/>
          <p:nvPr/>
        </p:nvSpPr>
        <p:spPr>
          <a:xfrm>
            <a:off x="9169400" y="1651000"/>
            <a:ext cx="2286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>
                <a:solidFill>
                  <a:srgbClr val="0D9488"/>
                </a:solidFill>
                <a:latin typeface="Segoe UI" panose="020B0502040204020203" pitchFamily="34" charset="0"/>
              </a:rPr>
              <a:t>WHAT IT SHOWS</a:t>
            </a:r>
            <a:endParaRPr lang="en-PK" sz="95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72393843-2D4E-C6C3-1865-6FE4EA399D92}"/>
              </a:ext>
            </a:extLst>
          </p:cNvPr>
          <p:cNvSpPr txBox="1"/>
          <p:nvPr/>
        </p:nvSpPr>
        <p:spPr>
          <a:xfrm>
            <a:off x="9169400" y="1955800"/>
            <a:ext cx="2260600" cy="294696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Purpose: what happens inside when a face is captured.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The first two steps run in the browser, not on the server.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The browser makes the 128 value descriptor and finds the best match.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Only the result is sent to the server, never the descriptor.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The alt frame splits a known face from an unknown one.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An unknown face creates an alert and pushes it to the caregiver.</a:t>
            </a:r>
            <a:endParaRPr lang="en-PK" sz="1100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3FD2467F-574B-0A9D-0A6F-6B88F587FEC3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1915B0E-987C-D25A-5F22-121795BC7F0B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9026AC7-8081-B2EE-8ACB-99427AC778D2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3874626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487071A-043C-7E32-B2AD-6EB0950E4857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CEF0B642-9112-0F6B-E21D-A3E91BC9721A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SYSTEM DESIGN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670F95B-F6C4-C80D-3F64-47F253952D48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Activity: Register and Login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C496CFC6-8828-E411-BCF7-74435A3F21FB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2B44E598-0074-1F06-F935-7C063425C656}"/>
              </a:ext>
            </a:extLst>
          </p:cNvPr>
          <p:cNvSpPr/>
          <p:nvPr/>
        </p:nvSpPr>
        <p:spPr>
          <a:xfrm>
            <a:off x="558800" y="1422400"/>
            <a:ext cx="8204200" cy="482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08C77615-0BA1-E50E-1D2B-30D71ED11D6F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400" y="1524000"/>
            <a:ext cx="3924300" cy="46228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6145CFF2-2F54-81BA-7F23-CC6EBFF590E6}"/>
              </a:ext>
            </a:extLst>
          </p:cNvPr>
          <p:cNvSpPr/>
          <p:nvPr/>
        </p:nvSpPr>
        <p:spPr>
          <a:xfrm>
            <a:off x="8966200" y="1422400"/>
            <a:ext cx="2667000" cy="48260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EBF54554-4281-0190-B2A5-5979AF6E984F}"/>
              </a:ext>
            </a:extLst>
          </p:cNvPr>
          <p:cNvSpPr/>
          <p:nvPr/>
        </p:nvSpPr>
        <p:spPr>
          <a:xfrm>
            <a:off x="8966200" y="1422400"/>
            <a:ext cx="38100" cy="4826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FA2791A9-17B2-E199-21B5-539CEEF8C3D5}"/>
              </a:ext>
            </a:extLst>
          </p:cNvPr>
          <p:cNvSpPr txBox="1"/>
          <p:nvPr/>
        </p:nvSpPr>
        <p:spPr>
          <a:xfrm>
            <a:off x="9169400" y="1651000"/>
            <a:ext cx="2286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>
                <a:solidFill>
                  <a:srgbClr val="0D9488"/>
                </a:solidFill>
                <a:latin typeface="Segoe UI" panose="020B0502040204020203" pitchFamily="34" charset="0"/>
              </a:rPr>
              <a:t>WHAT IT SHOWS</a:t>
            </a:r>
            <a:endParaRPr lang="en-PK" sz="95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FC467980-0480-7446-3F1C-2B95D12AFEA2}"/>
              </a:ext>
            </a:extLst>
          </p:cNvPr>
          <p:cNvSpPr txBox="1"/>
          <p:nvPr/>
        </p:nvSpPr>
        <p:spPr>
          <a:xfrm>
            <a:off x="9169400" y="1955800"/>
            <a:ext cx="2260600" cy="27776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Purpose: how a user signs up or signs in.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The first diamond asks: is this a new user or an existing one.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Wrong or missing details loop back to the same form.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Forgot the password? A reset link is sent and a new one is set.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A valid login opens the dashboard made for that role.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Notation: filled circle starts, diamond decides, ringed circle ends.</a:t>
            </a:r>
            <a:endParaRPr lang="en-PK" sz="1100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D3D24E1F-D7CD-4625-EF8C-680F5F996F46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C2776557-F7D0-7139-AC3F-F5EC99F25ECC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3A7632DF-6763-BB38-ECB0-DB583AD6226A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857216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6CDCCDC9-F993-73AF-BDE5-5BC6D8CD8501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E2F4DD6D-6383-7E30-0083-CDA36CDA0F91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SYSTEM DESIGN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4C3E94A-89E6-AF1F-5291-47A583A2C4E1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Activity: Take Medication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6F5A8EAD-3779-7A8E-3DA8-A1146538D0F5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D6DA1B86-8312-213E-C196-48C285EE5777}"/>
              </a:ext>
            </a:extLst>
          </p:cNvPr>
          <p:cNvSpPr/>
          <p:nvPr/>
        </p:nvSpPr>
        <p:spPr>
          <a:xfrm>
            <a:off x="558800" y="1422400"/>
            <a:ext cx="8204200" cy="482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8558843-ED5E-2D1E-3507-CE14295D6ED5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524000"/>
            <a:ext cx="3987800" cy="46228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0B6DDD2E-8292-26F3-1E1C-25C4D4567376}"/>
              </a:ext>
            </a:extLst>
          </p:cNvPr>
          <p:cNvSpPr/>
          <p:nvPr/>
        </p:nvSpPr>
        <p:spPr>
          <a:xfrm>
            <a:off x="8966200" y="1422400"/>
            <a:ext cx="2667000" cy="48260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380ED408-77AC-300D-3BD9-85BC043C33FB}"/>
              </a:ext>
            </a:extLst>
          </p:cNvPr>
          <p:cNvSpPr/>
          <p:nvPr/>
        </p:nvSpPr>
        <p:spPr>
          <a:xfrm>
            <a:off x="8966200" y="1422400"/>
            <a:ext cx="38100" cy="4826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334CBBF9-E558-932B-4A37-0DEAA022224F}"/>
              </a:ext>
            </a:extLst>
          </p:cNvPr>
          <p:cNvSpPr txBox="1"/>
          <p:nvPr/>
        </p:nvSpPr>
        <p:spPr>
          <a:xfrm>
            <a:off x="9169400" y="1651000"/>
            <a:ext cx="2286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>
                <a:solidFill>
                  <a:srgbClr val="0D9488"/>
                </a:solidFill>
                <a:latin typeface="Segoe UI" panose="020B0502040204020203" pitchFamily="34" charset="0"/>
              </a:rPr>
              <a:t>WHAT IT SHOWS</a:t>
            </a:r>
            <a:endParaRPr lang="en-PK" sz="95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3640CC96-68DF-1816-8618-7E500F83A2ED}"/>
              </a:ext>
            </a:extLst>
          </p:cNvPr>
          <p:cNvSpPr txBox="1"/>
          <p:nvPr/>
        </p:nvSpPr>
        <p:spPr>
          <a:xfrm>
            <a:off x="9169400" y="1955800"/>
            <a:ext cx="2260600" cy="26084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Purpose: what the system does at medicine time.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It starts on its own when the scheduled time arrives.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The decision asks: did the patient mark the dose as taken.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If yes, it is logged as taken straight away.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If not, the system waits 30 minutes, then logs it as missed.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A missed dose sends an alert to the caregiver.</a:t>
            </a:r>
            <a:endParaRPr lang="en-PK" sz="1100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985A6195-3855-AD30-BF40-C565D2C674C4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2A372820-003B-8696-15FD-CEC0E1AFDBA5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E1F6E884-7CF0-4309-91A3-B6E0840A5ED6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8549572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620BCE48-4120-8368-98F7-48DA4F71F611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5BE717C6-24BA-A7F4-2ADD-7B6B360DBFE6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SYSTEM DESIGN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76B924B9-C3F8-2FFD-5094-E9FF643E866A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Activity: Daily Routine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75751135-ED5B-78CC-AB24-6C3740B8BF93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7D6A28AB-752F-243E-3545-D1AD05CDA912}"/>
              </a:ext>
            </a:extLst>
          </p:cNvPr>
          <p:cNvSpPr/>
          <p:nvPr/>
        </p:nvSpPr>
        <p:spPr>
          <a:xfrm>
            <a:off x="558800" y="1422400"/>
            <a:ext cx="8204200" cy="482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3E058714-939D-9807-2FD4-C548B742D30D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1524000"/>
            <a:ext cx="3695700" cy="46228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CAC431A3-6F83-8198-85FB-5A8AECCAA3E9}"/>
              </a:ext>
            </a:extLst>
          </p:cNvPr>
          <p:cNvSpPr/>
          <p:nvPr/>
        </p:nvSpPr>
        <p:spPr>
          <a:xfrm>
            <a:off x="8966200" y="1422400"/>
            <a:ext cx="2667000" cy="48260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00444755-B61C-BF46-926B-B36E979AF42B}"/>
              </a:ext>
            </a:extLst>
          </p:cNvPr>
          <p:cNvSpPr/>
          <p:nvPr/>
        </p:nvSpPr>
        <p:spPr>
          <a:xfrm>
            <a:off x="8966200" y="1422400"/>
            <a:ext cx="38100" cy="4826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7CEAC2D5-CEA2-FCF7-E017-4D64E4F75A1D}"/>
              </a:ext>
            </a:extLst>
          </p:cNvPr>
          <p:cNvSpPr txBox="1"/>
          <p:nvPr/>
        </p:nvSpPr>
        <p:spPr>
          <a:xfrm>
            <a:off x="9169400" y="1651000"/>
            <a:ext cx="2286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>
                <a:solidFill>
                  <a:srgbClr val="0D9488"/>
                </a:solidFill>
                <a:latin typeface="Segoe UI" panose="020B0502040204020203" pitchFamily="34" charset="0"/>
              </a:rPr>
              <a:t>WHAT IT SHOWS</a:t>
            </a:r>
            <a:endParaRPr lang="en-PK" sz="95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E0147FFB-3F81-C0D2-2356-48D2414A4D55}"/>
              </a:ext>
            </a:extLst>
          </p:cNvPr>
          <p:cNvSpPr txBox="1"/>
          <p:nvPr/>
        </p:nvSpPr>
        <p:spPr>
          <a:xfrm>
            <a:off x="9169400" y="1955800"/>
            <a:ext cx="2260600" cy="215443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Purpose: the same idea, but for a daily activity instead of a dose.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First check: is this activity even scheduled for today.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Then: was it completed on time.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Completed and missed are both recorded in the log.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A missed activity alerts the caregiver, and a high priority one is marked critical.</a:t>
            </a:r>
            <a:endParaRPr lang="en-PK" sz="1100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5FC65AFC-5DA4-67D4-CFC2-925083227494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38F3DCC6-EC59-00CC-5B46-D430DB42D528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D73B4791-7AC8-BBAB-5F40-909F5400B767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6304450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E8266B66-60D3-BD73-E79B-23C21F342F5F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5B004003-B95F-85E0-B2F0-016212D6DD00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SYSTEM DESIGN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47AF71A-A6C5-5CDA-5741-D4FC64CDB8D5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Activity: Face Recognition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B12160C-1C0F-3113-08ED-0D14E6206F52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869ED549-7B15-C3AB-0DC4-E6AE8A70C209}"/>
              </a:ext>
            </a:extLst>
          </p:cNvPr>
          <p:cNvSpPr/>
          <p:nvPr/>
        </p:nvSpPr>
        <p:spPr>
          <a:xfrm>
            <a:off x="558800" y="1422400"/>
            <a:ext cx="8204200" cy="482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F3835B07-FCA7-662B-C3CF-2660CEC263FC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2600" y="1524000"/>
            <a:ext cx="3289300" cy="46228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9E837530-9662-7924-4730-823267030BBF}"/>
              </a:ext>
            </a:extLst>
          </p:cNvPr>
          <p:cNvSpPr/>
          <p:nvPr/>
        </p:nvSpPr>
        <p:spPr>
          <a:xfrm>
            <a:off x="8966200" y="1422400"/>
            <a:ext cx="2667000" cy="48260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587407B8-B2D7-8404-8370-3AFC8AAAA05D}"/>
              </a:ext>
            </a:extLst>
          </p:cNvPr>
          <p:cNvSpPr/>
          <p:nvPr/>
        </p:nvSpPr>
        <p:spPr>
          <a:xfrm>
            <a:off x="8966200" y="1422400"/>
            <a:ext cx="38100" cy="4826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A462CA3E-4D27-5108-8086-98BFC6C17F49}"/>
              </a:ext>
            </a:extLst>
          </p:cNvPr>
          <p:cNvSpPr txBox="1"/>
          <p:nvPr/>
        </p:nvSpPr>
        <p:spPr>
          <a:xfrm>
            <a:off x="9169400" y="1651000"/>
            <a:ext cx="2286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>
                <a:solidFill>
                  <a:srgbClr val="0D9488"/>
                </a:solidFill>
                <a:latin typeface="Segoe UI" panose="020B0502040204020203" pitchFamily="34" charset="0"/>
              </a:rPr>
              <a:t>WHAT IT SHOWS</a:t>
            </a:r>
            <a:endParaRPr lang="en-PK" sz="95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77F1BC2B-7902-621C-8DFB-CCBF90B3DDDA}"/>
              </a:ext>
            </a:extLst>
          </p:cNvPr>
          <p:cNvSpPr txBox="1"/>
          <p:nvPr/>
        </p:nvSpPr>
        <p:spPr>
          <a:xfrm>
            <a:off x="9169400" y="1955800"/>
            <a:ext cx="2260600" cy="249299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Purpose: the journey from a camera frame to a name on screen.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First check: was a face found in the picture at all.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The matching happens in the browser itself, not on the server.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A match shows the person's name and how they are related.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An unknown face alerts the caregiver, and every attempt is logged.</a:t>
            </a:r>
            <a:endParaRPr lang="en-PK" sz="1100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23CD6871-948A-9D4D-37E9-FDAA8C4FFA20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70DD069C-E62B-1A49-CC06-BB72BF278171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FF80DD30-5A53-1A53-6958-645B742E3289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4348150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C743193B-6EAA-1173-E6FD-84F9D699BBC7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B6A0064-44AC-05FC-81AF-C792DCD6B1EC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SYSTEM DESIGN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D06EC5C8-168C-62A0-7431-35EBA29A7743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Activity: AI Chatbot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7CB6A2C6-F32E-F838-F57D-CFF4E5591AFC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14DEE1A9-0818-783C-DDB6-0E6DD6BE11EA}"/>
              </a:ext>
            </a:extLst>
          </p:cNvPr>
          <p:cNvSpPr/>
          <p:nvPr/>
        </p:nvSpPr>
        <p:spPr>
          <a:xfrm>
            <a:off x="558800" y="1422400"/>
            <a:ext cx="8204200" cy="482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829364D0-5E35-64C6-63E7-0DD4DE657963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9800" y="1524000"/>
            <a:ext cx="2362200" cy="46228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CB001595-3901-EC8C-9C9C-B75826AA898B}"/>
              </a:ext>
            </a:extLst>
          </p:cNvPr>
          <p:cNvSpPr/>
          <p:nvPr/>
        </p:nvSpPr>
        <p:spPr>
          <a:xfrm>
            <a:off x="8966200" y="1422400"/>
            <a:ext cx="2667000" cy="48260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98FF0DF6-FE23-45FD-A691-2DC2E3C50340}"/>
              </a:ext>
            </a:extLst>
          </p:cNvPr>
          <p:cNvSpPr/>
          <p:nvPr/>
        </p:nvSpPr>
        <p:spPr>
          <a:xfrm>
            <a:off x="8966200" y="1422400"/>
            <a:ext cx="38100" cy="4826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0764321B-0A45-69EC-32C3-B604E34981A6}"/>
              </a:ext>
            </a:extLst>
          </p:cNvPr>
          <p:cNvSpPr txBox="1"/>
          <p:nvPr/>
        </p:nvSpPr>
        <p:spPr>
          <a:xfrm>
            <a:off x="9169400" y="1651000"/>
            <a:ext cx="2286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>
                <a:solidFill>
                  <a:srgbClr val="0D9488"/>
                </a:solidFill>
                <a:latin typeface="Segoe UI" panose="020B0502040204020203" pitchFamily="34" charset="0"/>
              </a:rPr>
              <a:t>WHAT IT SHOWS</a:t>
            </a:r>
            <a:endParaRPr lang="en-PK" sz="95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773D797C-BA9A-D901-A0E5-25E85CC9B21C}"/>
              </a:ext>
            </a:extLst>
          </p:cNvPr>
          <p:cNvSpPr txBox="1"/>
          <p:nvPr/>
        </p:nvSpPr>
        <p:spPr>
          <a:xfrm>
            <a:off x="9169400" y="1955800"/>
            <a:ext cx="2260600" cy="294696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Purpose: how a patient's message becomes a useful reply.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This is our three tier cascade, and it is the heart of the chatbot.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Tier one: the message goes to Wit.ai in the cloud.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Tier two: if Wit.ai is not confident, our offline model runs instead.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Tier three: if that is unavailable, simple keyword rules still answer.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Finally the reply is filled in with the patient's own real data.</a:t>
            </a:r>
            <a:endParaRPr lang="en-PK" sz="1100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E9C3E2B9-5E19-4D41-54AD-4F152B8BB633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70D0D9F2-0EBC-9FB9-82B9-A9DCBD72423E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1928B456-9575-0F28-1D1F-867FE9F279EB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39123866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C06A84C3-4F29-1C6E-8571-1E36988D5A0D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1E251E97-6308-FCA3-CEF2-BE17764C5687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SYSTEM DESIGN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C4E1DA5-6F5F-C30D-F8D1-6C4D41C6FAED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Activity: Caregiver Dashboard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C127C3D-49B6-E3B0-3989-C5B335B303EA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F4315E-6540-60B9-B831-179C09BE12B0}"/>
              </a:ext>
            </a:extLst>
          </p:cNvPr>
          <p:cNvSpPr/>
          <p:nvPr/>
        </p:nvSpPr>
        <p:spPr>
          <a:xfrm>
            <a:off x="558800" y="1422400"/>
            <a:ext cx="8204200" cy="482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84C1E8B1-BAD2-906F-EF98-69B487CF2344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1524000"/>
            <a:ext cx="2324100" cy="46228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2EDCBC2F-1750-E02F-30E7-CBEEDED337B0}"/>
              </a:ext>
            </a:extLst>
          </p:cNvPr>
          <p:cNvSpPr/>
          <p:nvPr/>
        </p:nvSpPr>
        <p:spPr>
          <a:xfrm>
            <a:off x="8966200" y="1422400"/>
            <a:ext cx="2667000" cy="48260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8037C0D4-9D7A-3304-6D47-5821510FE7EF}"/>
              </a:ext>
            </a:extLst>
          </p:cNvPr>
          <p:cNvSpPr/>
          <p:nvPr/>
        </p:nvSpPr>
        <p:spPr>
          <a:xfrm>
            <a:off x="8966200" y="1422400"/>
            <a:ext cx="38100" cy="4826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DB7045DC-0895-2633-2056-C6C14ACFE041}"/>
              </a:ext>
            </a:extLst>
          </p:cNvPr>
          <p:cNvSpPr txBox="1"/>
          <p:nvPr/>
        </p:nvSpPr>
        <p:spPr>
          <a:xfrm>
            <a:off x="9169400" y="1651000"/>
            <a:ext cx="2286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>
                <a:solidFill>
                  <a:srgbClr val="0D9488"/>
                </a:solidFill>
                <a:latin typeface="Segoe UI" panose="020B0502040204020203" pitchFamily="34" charset="0"/>
              </a:rPr>
              <a:t>WHAT IT SHOWS</a:t>
            </a:r>
            <a:endParaRPr lang="en-PK" sz="95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F9FCA0BE-C23D-C9BA-F2DD-CC4EA15C1139}"/>
              </a:ext>
            </a:extLst>
          </p:cNvPr>
          <p:cNvSpPr txBox="1"/>
          <p:nvPr/>
        </p:nvSpPr>
        <p:spPr>
          <a:xfrm>
            <a:off x="9169400" y="1955800"/>
            <a:ext cx="2260600" cy="232371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Purpose: the caregiver's daily routine inside the app.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After login, the patients assigned to them load first.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They review each patient's status and compliance.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New alerts also arrive on their own, pushed live to the page.</a:t>
            </a:r>
          </a:p>
          <a:p>
            <a:pPr marL="228600" indent="-228600">
              <a:spcAft>
                <a:spcPts val="9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100">
                <a:solidFill>
                  <a:srgbClr val="1A3C34"/>
                </a:solidFill>
                <a:latin typeface="Segoe UI" panose="020B0502040204020203" pitchFamily="34" charset="0"/>
              </a:rPr>
              <a:t>They resolve an alert, write a care note, or move to another patient.</a:t>
            </a:r>
            <a:endParaRPr lang="en-PK" sz="1100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D69D3613-1E98-DBE0-CE47-A81B0A5C2B3A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2CC810BE-20B9-BAE8-4E0E-D5F7032711A4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622014FE-871F-C139-1DBE-B5E695FAD996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7873243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9EC3350-A204-DE0E-73E3-A230154B86FC}"/>
              </a:ext>
            </a:extLst>
          </p:cNvPr>
          <p:cNvSpPr txBox="1"/>
          <p:nvPr/>
        </p:nvSpPr>
        <p:spPr>
          <a:xfrm>
            <a:off x="812800" y="2540000"/>
            <a:ext cx="2540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K" sz="5400" b="1">
                <a:solidFill>
                  <a:srgbClr val="FFFFFF"/>
                </a:solidFill>
                <a:latin typeface="Segoe UI" panose="020B0502040204020203" pitchFamily="34" charset="0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32349243-F0AB-EE6F-B084-A33B6F896B7E}"/>
              </a:ext>
            </a:extLst>
          </p:cNvPr>
          <p:cNvSpPr/>
          <p:nvPr/>
        </p:nvSpPr>
        <p:spPr>
          <a:xfrm>
            <a:off x="812800" y="3403600"/>
            <a:ext cx="660400" cy="381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400EA92-730B-E9BA-AA16-6BA868AC6891}"/>
              </a:ext>
            </a:extLst>
          </p:cNvPr>
          <p:cNvSpPr txBox="1"/>
          <p:nvPr/>
        </p:nvSpPr>
        <p:spPr>
          <a:xfrm>
            <a:off x="2463800" y="2603500"/>
            <a:ext cx="787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600" b="1">
                <a:solidFill>
                  <a:srgbClr val="FFFFFF"/>
                </a:solidFill>
                <a:latin typeface="Segoe UI" panose="020B0502040204020203" pitchFamily="34" charset="0"/>
              </a:rPr>
              <a:t>Implementation</a:t>
            </a:r>
            <a:endParaRPr lang="en-PK" sz="36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2C83A82-99C8-FA47-629A-B54179C04ED0}"/>
              </a:ext>
            </a:extLst>
          </p:cNvPr>
          <p:cNvSpPr txBox="1"/>
          <p:nvPr/>
        </p:nvSpPr>
        <p:spPr>
          <a:xfrm>
            <a:off x="2489200" y="3251200"/>
            <a:ext cx="787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FFFFFF"/>
                </a:solidFill>
                <a:latin typeface="Segoe UI" panose="020B0502040204020203" pitchFamily="34" charset="0"/>
              </a:rPr>
              <a:t>Building and testing the system</a:t>
            </a:r>
            <a:endParaRPr lang="en-PK" sz="15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860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0C9EA83C-D37A-3D5B-EBF4-5988B9371F3D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67ADED6-2E3D-556D-DB78-CFDDEFB4E654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IMPLEMENTATION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8CD531C-FA7D-ED46-BCB2-BAE37629B59A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Technology Stack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FABE749-25B8-536B-06DE-B544C7FA6D86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6AC01949-0FA7-47A2-F73B-EB487F443240}"/>
              </a:ext>
            </a:extLst>
          </p:cNvPr>
          <p:cNvSpPr txBox="1"/>
          <p:nvPr/>
        </p:nvSpPr>
        <p:spPr>
          <a:xfrm>
            <a:off x="812800" y="1600200"/>
            <a:ext cx="1056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A6964"/>
                </a:solidFill>
                <a:latin typeface="Segoe UI" panose="020B0502040204020203" pitchFamily="34" charset="0"/>
              </a:rPr>
              <a:t>Modern web technologies chosen for reliability</a:t>
            </a:r>
            <a:endParaRPr lang="en-PK" sz="15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31547B1C-90B4-E718-61AA-60406CBEDBB5}"/>
              </a:ext>
            </a:extLst>
          </p:cNvPr>
          <p:cNvSpPr/>
          <p:nvPr/>
        </p:nvSpPr>
        <p:spPr>
          <a:xfrm>
            <a:off x="812800" y="2032000"/>
            <a:ext cx="5130800" cy="7874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rIns="127000" rtlCol="0" anchor="ctr"/>
          <a:lstStyle/>
          <a:p>
            <a:r>
              <a:rPr lang="en-US" sz="1350" b="1">
                <a:solidFill>
                  <a:srgbClr val="1A3C34"/>
                </a:solidFill>
                <a:latin typeface="Segoe UI" panose="020B0502040204020203" pitchFamily="34" charset="0"/>
              </a:rPr>
              <a:t>Frontend:  Next.js, React, TypeScript</a:t>
            </a:r>
            <a:endParaRPr lang="en-PK" sz="135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2D3CED65-8808-7788-BA0D-27060A34A068}"/>
              </a:ext>
            </a:extLst>
          </p:cNvPr>
          <p:cNvSpPr/>
          <p:nvPr/>
        </p:nvSpPr>
        <p:spPr>
          <a:xfrm>
            <a:off x="812800" y="2032000"/>
            <a:ext cx="38100" cy="7874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CE12C00B-31AF-37E9-C2D0-4C5B82AB6A92}"/>
              </a:ext>
            </a:extLst>
          </p:cNvPr>
          <p:cNvSpPr/>
          <p:nvPr/>
        </p:nvSpPr>
        <p:spPr>
          <a:xfrm>
            <a:off x="6248400" y="2032000"/>
            <a:ext cx="5130800" cy="7874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rIns="127000" rtlCol="0" anchor="ctr"/>
          <a:lstStyle/>
          <a:p>
            <a:r>
              <a:rPr lang="en-US" sz="1350" b="1">
                <a:solidFill>
                  <a:srgbClr val="1A3C34"/>
                </a:solidFill>
                <a:latin typeface="Segoe UI" panose="020B0502040204020203" pitchFamily="34" charset="0"/>
              </a:rPr>
              <a:t>Backend:  Node.js, Express, TypeScript</a:t>
            </a:r>
            <a:endParaRPr lang="en-PK" sz="135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A327736F-54E5-414F-2CBA-FEED9146DE74}"/>
              </a:ext>
            </a:extLst>
          </p:cNvPr>
          <p:cNvSpPr/>
          <p:nvPr/>
        </p:nvSpPr>
        <p:spPr>
          <a:xfrm>
            <a:off x="6248400" y="2032000"/>
            <a:ext cx="38100" cy="7874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CFBF4246-6E20-AD26-F0F6-7879B6CDA420}"/>
              </a:ext>
            </a:extLst>
          </p:cNvPr>
          <p:cNvSpPr/>
          <p:nvPr/>
        </p:nvSpPr>
        <p:spPr>
          <a:xfrm>
            <a:off x="812800" y="3022600"/>
            <a:ext cx="5130800" cy="7874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rIns="127000" rtlCol="0" anchor="ctr"/>
          <a:lstStyle/>
          <a:p>
            <a:r>
              <a:rPr lang="en-US" sz="1350" b="1">
                <a:solidFill>
                  <a:srgbClr val="1A3C34"/>
                </a:solidFill>
                <a:latin typeface="Segoe UI" panose="020B0502040204020203" pitchFamily="34" charset="0"/>
              </a:rPr>
              <a:t>Database:  MongoDB with Mongoose</a:t>
            </a:r>
            <a:endParaRPr lang="en-PK" sz="135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00897C62-435F-547F-3443-0464A4F322D0}"/>
              </a:ext>
            </a:extLst>
          </p:cNvPr>
          <p:cNvSpPr/>
          <p:nvPr/>
        </p:nvSpPr>
        <p:spPr>
          <a:xfrm>
            <a:off x="812800" y="3022600"/>
            <a:ext cx="38100" cy="7874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DE9F8E37-C2CE-7C01-954A-BABB722F3B9E}"/>
              </a:ext>
            </a:extLst>
          </p:cNvPr>
          <p:cNvSpPr/>
          <p:nvPr/>
        </p:nvSpPr>
        <p:spPr>
          <a:xfrm>
            <a:off x="6248400" y="3022600"/>
            <a:ext cx="5130800" cy="7874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rIns="127000" rtlCol="0" anchor="ctr"/>
          <a:lstStyle/>
          <a:p>
            <a:r>
              <a:rPr lang="en-US" sz="1350" b="1">
                <a:solidFill>
                  <a:srgbClr val="1A3C34"/>
                </a:solidFill>
                <a:latin typeface="Segoe UI" panose="020B0502040204020203" pitchFamily="34" charset="0"/>
              </a:rPr>
              <a:t>Face recognition:  face-api.js in the browser</a:t>
            </a:r>
            <a:endParaRPr lang="en-PK" sz="135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BD48630A-C3B9-F26F-75B4-F00293FE36D9}"/>
              </a:ext>
            </a:extLst>
          </p:cNvPr>
          <p:cNvSpPr/>
          <p:nvPr/>
        </p:nvSpPr>
        <p:spPr>
          <a:xfrm>
            <a:off x="6248400" y="3022600"/>
            <a:ext cx="38100" cy="7874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32CD268F-BB44-AEB3-6701-A152A99435D1}"/>
              </a:ext>
            </a:extLst>
          </p:cNvPr>
          <p:cNvSpPr/>
          <p:nvPr/>
        </p:nvSpPr>
        <p:spPr>
          <a:xfrm>
            <a:off x="812800" y="4013200"/>
            <a:ext cx="5130800" cy="7874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rIns="127000" rtlCol="0" anchor="ctr"/>
          <a:lstStyle/>
          <a:p>
            <a:r>
              <a:rPr lang="en-US" sz="1350" b="1">
                <a:solidFill>
                  <a:srgbClr val="1A3C34"/>
                </a:solidFill>
                <a:latin typeface="Segoe UI" panose="020B0502040204020203" pitchFamily="34" charset="0"/>
              </a:rPr>
              <a:t>Chat assistant:  Wit.ai with an offline model</a:t>
            </a:r>
            <a:endParaRPr lang="en-PK" sz="135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0A0D1A8F-803D-AB9B-EFD2-FE5DC1E37877}"/>
              </a:ext>
            </a:extLst>
          </p:cNvPr>
          <p:cNvSpPr/>
          <p:nvPr/>
        </p:nvSpPr>
        <p:spPr>
          <a:xfrm>
            <a:off x="812800" y="4013200"/>
            <a:ext cx="38100" cy="7874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78D7ABF3-276B-A07E-6176-650ED8FA2A68}"/>
              </a:ext>
            </a:extLst>
          </p:cNvPr>
          <p:cNvSpPr/>
          <p:nvPr/>
        </p:nvSpPr>
        <p:spPr>
          <a:xfrm>
            <a:off x="6248400" y="4013200"/>
            <a:ext cx="5130800" cy="7874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rIns="127000" rtlCol="0" anchor="ctr"/>
          <a:lstStyle/>
          <a:p>
            <a:r>
              <a:rPr lang="en-US" sz="1350" b="1">
                <a:solidFill>
                  <a:srgbClr val="1A3C34"/>
                </a:solidFill>
                <a:latin typeface="Segoe UI" panose="020B0502040204020203" pitchFamily="34" charset="0"/>
              </a:rPr>
              <a:t>Live updates:  Socket.io</a:t>
            </a:r>
            <a:endParaRPr lang="en-PK" sz="135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22723597-836A-F040-E13C-7D89A449DB35}"/>
              </a:ext>
            </a:extLst>
          </p:cNvPr>
          <p:cNvSpPr/>
          <p:nvPr/>
        </p:nvSpPr>
        <p:spPr>
          <a:xfrm>
            <a:off x="6248400" y="4013200"/>
            <a:ext cx="38100" cy="7874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353C01FB-2A4F-1C3E-7BF3-6ED252F0FB64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301D38F4-9E69-E986-6B61-BF1928F27AFE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1549116E-4021-4C6B-95B9-B94BEB1C9A2F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6040573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BE72393-9F44-3969-1366-D4D02F01CD8C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A24520A-AE22-9500-332A-49FB0E015F26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IMPLEMENTATION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457EB7D6-EA79-5FFC-87B6-EA387BA1BD58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Main Modules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5C960023-897C-B4F6-66B2-B7B17736F6E3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D61BF518-6F33-57A3-2435-5A26EC9458E8}"/>
              </a:ext>
            </a:extLst>
          </p:cNvPr>
          <p:cNvSpPr txBox="1"/>
          <p:nvPr/>
        </p:nvSpPr>
        <p:spPr>
          <a:xfrm>
            <a:off x="812800" y="1600200"/>
            <a:ext cx="1056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A6964"/>
                </a:solidFill>
                <a:latin typeface="Segoe UI" panose="020B0502040204020203" pitchFamily="34" charset="0"/>
              </a:rPr>
              <a:t>Each role sees only what it needs</a:t>
            </a:r>
            <a:endParaRPr lang="en-PK" sz="15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C5FB78D-A01D-70F5-2469-9E1AF14BF96C}"/>
              </a:ext>
            </a:extLst>
          </p:cNvPr>
          <p:cNvSpPr txBox="1"/>
          <p:nvPr/>
        </p:nvSpPr>
        <p:spPr>
          <a:xfrm>
            <a:off x="812800" y="2006600"/>
            <a:ext cx="10566400" cy="116955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15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700">
                <a:solidFill>
                  <a:srgbClr val="1A3C34"/>
                </a:solidFill>
                <a:latin typeface="Segoe UI" panose="020B0502040204020203" pitchFamily="34" charset="0"/>
              </a:rPr>
              <a:t>Patient:  dashboard, medicines, routines, face recognition, memory gallery, chat and reports.</a:t>
            </a:r>
          </a:p>
          <a:p>
            <a:pPr marL="342900" indent="-342900">
              <a:spcAft>
                <a:spcPts val="15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700">
                <a:solidFill>
                  <a:srgbClr val="1A3C34"/>
                </a:solidFill>
                <a:latin typeface="Segoe UI" panose="020B0502040204020203" pitchFamily="34" charset="0"/>
              </a:rPr>
              <a:t>Caregiver:  assigned patients, medicines, routines, alerts, care notes and reports.</a:t>
            </a:r>
          </a:p>
          <a:p>
            <a:pPr marL="342900" indent="-342900">
              <a:spcAft>
                <a:spcPts val="15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700">
                <a:solidFill>
                  <a:srgbClr val="1A3C34"/>
                </a:solidFill>
                <a:latin typeface="Segoe UI" panose="020B0502040204020203" pitchFamily="34" charset="0"/>
              </a:rPr>
              <a:t>Admin:  user management, system monitoring, security and system reports.</a:t>
            </a:r>
            <a:endParaRPr lang="en-PK" sz="1700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3EDAB63B-251D-F65C-0574-FD30D5683181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25393418-37A2-05EC-BCB5-CC51F5149AF5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535EC9F7-D588-819F-1A9E-1771259675E1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6546077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BBD204E-3280-4C85-E26C-5F5D7BE3C479}"/>
              </a:ext>
            </a:extLst>
          </p:cNvPr>
          <p:cNvSpPr txBox="1"/>
          <p:nvPr/>
        </p:nvSpPr>
        <p:spPr>
          <a:xfrm>
            <a:off x="812800" y="2540000"/>
            <a:ext cx="2540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K" sz="5400" b="1">
                <a:solidFill>
                  <a:srgbClr val="FFFFFF"/>
                </a:solidFill>
                <a:latin typeface="Segoe UI" panose="020B0502040204020203" pitchFamily="34" charset="0"/>
              </a:rPr>
              <a:t>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1C0BEB05-69E9-6E51-E3FB-5E39C5BDFC28}"/>
              </a:ext>
            </a:extLst>
          </p:cNvPr>
          <p:cNvSpPr/>
          <p:nvPr/>
        </p:nvSpPr>
        <p:spPr>
          <a:xfrm>
            <a:off x="812800" y="3403600"/>
            <a:ext cx="660400" cy="381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7FAF80A0-7B51-BD15-64EB-C54121622F05}"/>
              </a:ext>
            </a:extLst>
          </p:cNvPr>
          <p:cNvSpPr txBox="1"/>
          <p:nvPr/>
        </p:nvSpPr>
        <p:spPr>
          <a:xfrm>
            <a:off x="2463800" y="2603500"/>
            <a:ext cx="787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600" b="1">
                <a:solidFill>
                  <a:srgbClr val="FFFFFF"/>
                </a:solidFill>
                <a:latin typeface="Segoe UI" panose="020B0502040204020203" pitchFamily="34" charset="0"/>
              </a:rPr>
              <a:t>User Interfaces</a:t>
            </a:r>
            <a:endParaRPr lang="en-PK" sz="36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9B4DD2C-CE91-E422-F461-5B5AD7DFD364}"/>
              </a:ext>
            </a:extLst>
          </p:cNvPr>
          <p:cNvSpPr txBox="1"/>
          <p:nvPr/>
        </p:nvSpPr>
        <p:spPr>
          <a:xfrm>
            <a:off x="2489200" y="3251200"/>
            <a:ext cx="787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FFFFFF"/>
                </a:solidFill>
                <a:latin typeface="Segoe UI" panose="020B0502040204020203" pitchFamily="34" charset="0"/>
              </a:rPr>
              <a:t>A walk through the working screens</a:t>
            </a:r>
            <a:endParaRPr lang="en-PK" sz="15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36086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18E53E9A-2A61-C1A2-E069-1F9CA5ECB715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EAA42B91-D910-E004-6075-8B545A7AC535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USER INTERFACES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630706F-0A71-9942-B316-13DF031DA3BA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Home Page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6B23A986-0614-D314-7E57-385FD4EC126F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4961931F-AE1F-1B39-F5DA-C8D41F6289D9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15B00312-6FB9-CE5F-6D50-499862947F9B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CFCB0684-9522-B3CE-B3DB-D2FB95D4610F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30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456" y="1182876"/>
            <a:ext cx="9066034" cy="509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7994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9F7B267B-00E5-BE39-0E58-CD43E52EEDCE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6E753A1-175D-1220-9E98-AFB6E15BC0B5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USER INTERFACES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5E4CF02-F3FD-DB2D-74B5-CA66D84F4C45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Register and Login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322B163F-71AF-3794-41BB-92F32DA6AEBB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9DB34629-825D-A1B7-FC6C-46342B7AB7F6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FD031887-487C-0CFB-B4F8-4F0A86A3EDF3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211B2F28-7E79-70D1-DCA9-17D94D391754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31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173" y="1217291"/>
            <a:ext cx="9113416" cy="510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4177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C7AD6A29-6339-CEA9-5C46-94A04384C782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1008272-BC90-80E0-08DB-08292A5481DD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USER INTERFACES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63DBF2D4-33F3-3C3B-5D70-BC2CCC5EC481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Patient Dashboard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01B3A4DB-C11A-EA47-0D5B-8C8862F9FB57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4B7D72D7-5D79-67F7-EB1A-AA990DA6AF25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D01762F9-AEED-3AA8-4985-E9FE4A567279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7B1396CA-64AA-3B14-FF0A-D026109FB1E3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32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494" y="1182876"/>
            <a:ext cx="9138413" cy="514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4057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C2F88459-74B3-666F-B306-5FAB53C4AB82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B26481D-582A-2D19-9639-50A79250A256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USER INTERFACES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718D5641-1418-8215-FABC-32EB90F3400A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Patient: Medications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A6D3A061-3ACB-21C2-0EA9-E3D16521CE8E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3B7A7CE-F143-5CDC-56AD-A4741419ECF3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2588FA32-320E-E876-E80E-81309186634A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8B69C576-2759-9B0F-4EF2-04F2A469CCAA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33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155" y="1144656"/>
            <a:ext cx="9146707" cy="513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397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4E30DA6D-6550-0E6A-CA27-1A9A5C161628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5C1FBF1F-8171-DE92-E36A-06318275AC0D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USER INTERFACES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1D0F82D6-3835-E23B-E3EE-B3FC0A8C6156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Patient: Daily Routines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5B5F20E9-5741-8D91-78B6-F2F45DFE1604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8193B59E-595D-029F-58BE-9FA8D64CE2EB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6C958138-E911-5E61-B802-9352C5E2E300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F8B93B0B-2E34-F820-B79A-C8A65C611E53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34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927" y="1190961"/>
            <a:ext cx="9142358" cy="5133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943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0A44AAE1-5B4C-0327-8DA8-4AF55FEA2C2C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66E9339-CB32-371E-C5C1-CE3E5D918C02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USER INTERFACES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0721589-DB62-7DA1-BA2F-33C68B832365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Patient: Chat Assistant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6987D4D9-E694-75A1-3D6E-27060D464F11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4AAF2975-D7C0-BE5D-4813-08A36DE23D5D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CFDA84B9-FE36-B7D8-06A9-32C8AE4691C8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C43A9E9E-4406-D140-1D09-3B41225A0A24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37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171" y="1163896"/>
            <a:ext cx="9165029" cy="5160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5472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FD997DA7-AA5A-1A9F-2231-D571E02E64AA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9FA830B-27E8-D382-2BFF-5116E5425F56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USER INTERFACES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9AA280A-5380-A887-A06E-2666F3F038C3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 dirty="0">
                <a:solidFill>
                  <a:srgbClr val="1A3C34"/>
                </a:solidFill>
                <a:latin typeface="Segoe UI" panose="020B0502040204020203" pitchFamily="34" charset="0"/>
              </a:rPr>
              <a:t>Patient: </a:t>
            </a:r>
            <a:r>
              <a:rPr lang="en-US" sz="2900" b="1" dirty="0" smtClean="0">
                <a:solidFill>
                  <a:srgbClr val="1A3C34"/>
                </a:solidFill>
                <a:latin typeface="Segoe UI" panose="020B0502040204020203" pitchFamily="34" charset="0"/>
              </a:rPr>
              <a:t>Reports</a:t>
            </a:r>
            <a:endParaRPr lang="en-PK" sz="2900" b="1" dirty="0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F1D5913-33E9-D870-3687-D9BE3144FE7C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B3FBDAF0-5745-28F5-0A76-80EBEE4CCA21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EBDAFCC2-8F45-8595-3221-CC5E59D8E155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763B9829-DA67-5503-3CEF-C01D3EE73E7D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38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517" y="1138350"/>
            <a:ext cx="9186385" cy="51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8178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2FE76374-9F18-77A6-4270-BCC62306D6CE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5C2DA74F-A026-EC13-CB8B-70F4C069FAF0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USER INTERFACES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17530BF3-1A88-6381-2270-8315529605D5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Caregiver Dashboard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07E4CCE2-2487-4BF0-ACA4-BE0DDBA40232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B72FC1CB-B4A7-E87E-BA5A-59ED020A7071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06006DC9-FB5D-4E02-B6C7-36ADA880E8A3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4A04F827-A779-334B-D366-EF494B04ADBA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39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305" y="1182876"/>
            <a:ext cx="9115182" cy="509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4281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A5A7C7A5-3104-00AB-A919-3640DE0028D0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A168A48-67AF-B25E-13B7-5F514AEDBA10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USER INTERFACES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1B6BECF-CA8D-D509-B18B-8C3854AF1ED7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Caregiver: Alerts and Care Notes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67B46F85-B688-86E8-FEBC-702C17CAB3C6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9A08FBA6-2801-7FC9-44F3-F77D1FAB8144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E48812F2-18AF-ECF1-0A98-A1D02978C717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02B38DCB-8E51-B3B1-10E9-8AAE0973FA45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40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730" y="1168601"/>
            <a:ext cx="9144470" cy="511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9598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E21E1E9D-FDE4-214B-EDAA-822745157B80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14D7FB5-F7FC-02EE-6784-1EEFE276C6D5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USER INTERFACES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1F2F4E7-5968-5B59-23A0-26C997FA4C0B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Admin Panel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AAFEF742-4D02-32FE-676B-FD2F76DE8A52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9596F14-29A1-81F7-34DC-3F62F08F04C4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D3D8E35F-A9CE-4C9C-BC61-665B2FD8D8EF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B7311228-AE80-6A03-847D-97A99D46C104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41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163" y="1154063"/>
            <a:ext cx="9272037" cy="517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7891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4E4BB35-8A98-F4CD-0100-0A52F2364EB1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5322358-9985-7523-14CC-BE136CAAD1A4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IMPLEMENTATION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D9EC20D-0C2C-53D0-05A3-2AB18A7D0176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Testing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878AA340-0D20-F54C-1052-AF7C43BC899A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898D1F3-FA23-5E8C-8CA0-DBB63E6054B0}"/>
              </a:ext>
            </a:extLst>
          </p:cNvPr>
          <p:cNvSpPr txBox="1"/>
          <p:nvPr/>
        </p:nvSpPr>
        <p:spPr>
          <a:xfrm>
            <a:off x="812800" y="1600200"/>
            <a:ext cx="660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A6964"/>
                </a:solidFill>
                <a:latin typeface="Segoe UI" panose="020B0502040204020203" pitchFamily="34" charset="0"/>
              </a:rPr>
              <a:t>Verified with real data from start to finish</a:t>
            </a:r>
            <a:endParaRPr lang="en-PK" sz="15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419B8001-F51C-2CA0-DCC8-52958296E6C1}"/>
              </a:ext>
            </a:extLst>
          </p:cNvPr>
          <p:cNvSpPr txBox="1"/>
          <p:nvPr/>
        </p:nvSpPr>
        <p:spPr>
          <a:xfrm>
            <a:off x="812800" y="2006600"/>
            <a:ext cx="6604000" cy="15234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14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600">
                <a:solidFill>
                  <a:srgbClr val="1A3C34"/>
                </a:solidFill>
                <a:latin typeface="Segoe UI" panose="020B0502040204020203" pitchFamily="34" charset="0"/>
              </a:rPr>
              <a:t>Every module was tested with real records, never with dummy data.</a:t>
            </a:r>
          </a:p>
          <a:p>
            <a:pPr marL="342900" indent="-342900">
              <a:spcAft>
                <a:spcPts val="14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600">
                <a:solidFill>
                  <a:srgbClr val="1A3C34"/>
                </a:solidFill>
                <a:latin typeface="Segoe UI" panose="020B0502040204020203" pitchFamily="34" charset="0"/>
              </a:rPr>
              <a:t>Reminders, alerts, reports and chat were checked end to end.</a:t>
            </a:r>
          </a:p>
          <a:p>
            <a:pPr marL="342900" indent="-342900">
              <a:spcAft>
                <a:spcPts val="14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600">
                <a:solidFill>
                  <a:srgbClr val="1A3C34"/>
                </a:solidFill>
                <a:latin typeface="Segoe UI" panose="020B0502040204020203" pitchFamily="34" charset="0"/>
              </a:rPr>
              <a:t>Access rules were tested so each role sees only its own data.</a:t>
            </a:r>
          </a:p>
          <a:p>
            <a:pPr marL="342900" indent="-342900">
              <a:spcAft>
                <a:spcPts val="14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600">
                <a:solidFill>
                  <a:srgbClr val="1A3C34"/>
                </a:solidFill>
                <a:latin typeface="Segoe UI" panose="020B0502040204020203" pitchFamily="34" charset="0"/>
              </a:rPr>
              <a:t>The system also works for any new data added later.</a:t>
            </a:r>
            <a:endParaRPr lang="en-PK" sz="1600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D186DBF-8A27-8F03-ACEB-8D755C121997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700" y="1905000"/>
            <a:ext cx="3302000" cy="3302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BE02BF8-269B-8916-C25F-43FEB8258C05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D918275C-7360-020D-FBF0-B9C1DB756632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DBE6B98F-2ED1-42E5-38E4-A8147A4F424C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0665481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6BECED3C-E391-D4BD-2DA3-66F316B7B9AC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A1BB4CE-D981-E2C8-C386-29346D7BA88A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IMPLEMENTATION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16B55B7-B800-C8DE-7850-05C61AC4E48A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Results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4405428D-15CE-2A65-CA55-9254844CFE9C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19B35146-B75C-D109-B818-1D3E12450722}"/>
              </a:ext>
            </a:extLst>
          </p:cNvPr>
          <p:cNvSpPr txBox="1"/>
          <p:nvPr/>
        </p:nvSpPr>
        <p:spPr>
          <a:xfrm>
            <a:off x="812800" y="1600200"/>
            <a:ext cx="1056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A6964"/>
                </a:solidFill>
                <a:latin typeface="Segoe UI" panose="020B0502040204020203" pitchFamily="34" charset="0"/>
              </a:rPr>
              <a:t>What the finished system delivers</a:t>
            </a:r>
            <a:endParaRPr lang="en-PK" sz="15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5C928B3-6261-30C6-CF9E-BA468D020BD6}"/>
              </a:ext>
            </a:extLst>
          </p:cNvPr>
          <p:cNvSpPr/>
          <p:nvPr/>
        </p:nvSpPr>
        <p:spPr>
          <a:xfrm>
            <a:off x="812800" y="2032000"/>
            <a:ext cx="5130800" cy="7874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rIns="127000" rtlCol="0" anchor="ctr"/>
          <a:lstStyle/>
          <a:p>
            <a:r>
              <a:rPr lang="en-US" sz="1350" b="1">
                <a:solidFill>
                  <a:srgbClr val="1A3C34"/>
                </a:solidFill>
                <a:latin typeface="Segoe UI" panose="020B0502040204020203" pitchFamily="34" charset="0"/>
              </a:rPr>
              <a:t>All seven modules are complete and working</a:t>
            </a:r>
            <a:endParaRPr lang="en-PK" sz="135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5C954EE7-6A6B-B2A6-7410-0B58BA938614}"/>
              </a:ext>
            </a:extLst>
          </p:cNvPr>
          <p:cNvSpPr/>
          <p:nvPr/>
        </p:nvSpPr>
        <p:spPr>
          <a:xfrm>
            <a:off x="812800" y="2032000"/>
            <a:ext cx="38100" cy="7874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5E383894-C13B-06F4-1EA8-3AC7B93A2BF5}"/>
              </a:ext>
            </a:extLst>
          </p:cNvPr>
          <p:cNvSpPr/>
          <p:nvPr/>
        </p:nvSpPr>
        <p:spPr>
          <a:xfrm>
            <a:off x="6248400" y="2032000"/>
            <a:ext cx="5130800" cy="7874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rIns="127000" rtlCol="0" anchor="ctr"/>
          <a:lstStyle/>
          <a:p>
            <a:r>
              <a:rPr lang="en-US" sz="1350" b="1">
                <a:solidFill>
                  <a:srgbClr val="1A3C34"/>
                </a:solidFill>
                <a:latin typeface="Segoe UI" panose="020B0502040204020203" pitchFamily="34" charset="0"/>
              </a:rPr>
              <a:t>Reminders reach the patient by screen and voice</a:t>
            </a:r>
            <a:endParaRPr lang="en-PK" sz="135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8A327B1B-7DEC-C9B0-8321-CF0D4A0E821B}"/>
              </a:ext>
            </a:extLst>
          </p:cNvPr>
          <p:cNvSpPr/>
          <p:nvPr/>
        </p:nvSpPr>
        <p:spPr>
          <a:xfrm>
            <a:off x="6248400" y="2032000"/>
            <a:ext cx="38100" cy="7874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2AF4CCCF-F6CB-67C5-D2A5-2BCB7289AFEB}"/>
              </a:ext>
            </a:extLst>
          </p:cNvPr>
          <p:cNvSpPr/>
          <p:nvPr/>
        </p:nvSpPr>
        <p:spPr>
          <a:xfrm>
            <a:off x="812800" y="3022600"/>
            <a:ext cx="5130800" cy="7874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rIns="127000" rtlCol="0" anchor="ctr"/>
          <a:lstStyle/>
          <a:p>
            <a:r>
              <a:rPr lang="en-US" sz="1350" b="1">
                <a:solidFill>
                  <a:srgbClr val="1A3C34"/>
                </a:solidFill>
                <a:latin typeface="Segoe UI" panose="020B0502040204020203" pitchFamily="34" charset="0"/>
              </a:rPr>
              <a:t>Faces are recognised and logged for review</a:t>
            </a:r>
            <a:endParaRPr lang="en-PK" sz="135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DC814E8A-B6BD-6F14-7942-2CB07C444ABD}"/>
              </a:ext>
            </a:extLst>
          </p:cNvPr>
          <p:cNvSpPr/>
          <p:nvPr/>
        </p:nvSpPr>
        <p:spPr>
          <a:xfrm>
            <a:off x="812800" y="3022600"/>
            <a:ext cx="38100" cy="7874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A2BDDCE2-EA80-7B80-C86E-72FEF3150248}"/>
              </a:ext>
            </a:extLst>
          </p:cNvPr>
          <p:cNvSpPr/>
          <p:nvPr/>
        </p:nvSpPr>
        <p:spPr>
          <a:xfrm>
            <a:off x="6248400" y="3022600"/>
            <a:ext cx="5130800" cy="7874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rIns="127000" rtlCol="0" anchor="ctr"/>
          <a:lstStyle/>
          <a:p>
            <a:r>
              <a:rPr lang="en-US" sz="1350" b="1">
                <a:solidFill>
                  <a:srgbClr val="1A3C34"/>
                </a:solidFill>
                <a:latin typeface="Segoe UI" panose="020B0502040204020203" pitchFamily="34" charset="0"/>
              </a:rPr>
              <a:t>Caregivers receive alerts in real time</a:t>
            </a:r>
            <a:endParaRPr lang="en-PK" sz="135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22ECC5C3-E35B-956F-FA61-BDF3061BBFEB}"/>
              </a:ext>
            </a:extLst>
          </p:cNvPr>
          <p:cNvSpPr/>
          <p:nvPr/>
        </p:nvSpPr>
        <p:spPr>
          <a:xfrm>
            <a:off x="6248400" y="3022600"/>
            <a:ext cx="38100" cy="7874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0821DA42-7779-F0F0-91AA-BD2C4FB9B196}"/>
              </a:ext>
            </a:extLst>
          </p:cNvPr>
          <p:cNvSpPr/>
          <p:nvPr/>
        </p:nvSpPr>
        <p:spPr>
          <a:xfrm>
            <a:off x="812800" y="4013200"/>
            <a:ext cx="5130800" cy="7874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rIns="127000" rtlCol="0" anchor="ctr"/>
          <a:lstStyle/>
          <a:p>
            <a:r>
              <a:rPr lang="en-US" sz="1350" b="1">
                <a:solidFill>
                  <a:srgbClr val="1A3C34"/>
                </a:solidFill>
                <a:latin typeface="Segoe UI" panose="020B0502040204020203" pitchFamily="34" charset="0"/>
              </a:rPr>
              <a:t>Reports are generated from live records</a:t>
            </a:r>
            <a:endParaRPr lang="en-PK" sz="135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67D43409-5DEB-D60E-09C1-9ECDBEAAB40B}"/>
              </a:ext>
            </a:extLst>
          </p:cNvPr>
          <p:cNvSpPr/>
          <p:nvPr/>
        </p:nvSpPr>
        <p:spPr>
          <a:xfrm>
            <a:off x="812800" y="4013200"/>
            <a:ext cx="38100" cy="7874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0A100229-A884-A653-E04A-5A0360491438}"/>
              </a:ext>
            </a:extLst>
          </p:cNvPr>
          <p:cNvSpPr/>
          <p:nvPr/>
        </p:nvSpPr>
        <p:spPr>
          <a:xfrm>
            <a:off x="6248400" y="4013200"/>
            <a:ext cx="5130800" cy="787400"/>
          </a:xfrm>
          <a:prstGeom prst="rect">
            <a:avLst/>
          </a:prstGeom>
          <a:solidFill>
            <a:srgbClr val="E0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rIns="127000" rtlCol="0" anchor="ctr"/>
          <a:lstStyle/>
          <a:p>
            <a:r>
              <a:rPr lang="en-US" sz="1350" b="1">
                <a:solidFill>
                  <a:srgbClr val="1A3C34"/>
                </a:solidFill>
                <a:latin typeface="Segoe UI" panose="020B0502040204020203" pitchFamily="34" charset="0"/>
              </a:rPr>
              <a:t>The assistant answers in English and Urdu</a:t>
            </a:r>
            <a:endParaRPr lang="en-PK" sz="135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5A656485-89E6-C2E4-7B83-8519A59E97CF}"/>
              </a:ext>
            </a:extLst>
          </p:cNvPr>
          <p:cNvSpPr/>
          <p:nvPr/>
        </p:nvSpPr>
        <p:spPr>
          <a:xfrm>
            <a:off x="6248400" y="4013200"/>
            <a:ext cx="38100" cy="7874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C74A4F3E-B5A0-7DE7-075E-EDB1462450B2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C6EED81B-8EAA-8516-D08B-DBDAE972E81C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7FE42373-BA14-58BA-31A9-F75A131632B6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1754193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E6790B96-2A04-0AFB-3E33-7C6AF902DFCC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A2668F4-C201-B7C0-A278-58319EA53516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IMPLEMENTATION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63ACEF8F-00DD-2456-83B7-53F9FF789B6F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Conclusion and Future Work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6E9E6D1D-A64D-BC8E-5508-0369B2E20CA3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F35258A-3335-36AC-E9F7-F97C733876C8}"/>
              </a:ext>
            </a:extLst>
          </p:cNvPr>
          <p:cNvSpPr txBox="1"/>
          <p:nvPr/>
        </p:nvSpPr>
        <p:spPr>
          <a:xfrm>
            <a:off x="812800" y="1600200"/>
            <a:ext cx="1056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A6964"/>
                </a:solidFill>
                <a:latin typeface="Segoe UI" panose="020B0502040204020203" pitchFamily="34" charset="0"/>
              </a:rPr>
              <a:t>Where the project stands and where it can go</a:t>
            </a:r>
            <a:endParaRPr lang="en-PK" sz="15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84B68FB8-D2D5-FC31-5C33-1EC87E9114D3}"/>
              </a:ext>
            </a:extLst>
          </p:cNvPr>
          <p:cNvSpPr txBox="1"/>
          <p:nvPr/>
        </p:nvSpPr>
        <p:spPr>
          <a:xfrm>
            <a:off x="812800" y="2006600"/>
            <a:ext cx="10566400" cy="207749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15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700">
                <a:solidFill>
                  <a:srgbClr val="1A3C34"/>
                </a:solidFill>
                <a:latin typeface="Segoe UI" panose="020B0502040204020203" pitchFamily="34" charset="0"/>
              </a:rPr>
              <a:t>MemoryCare brings the patient and the caregiver together in one simple app.</a:t>
            </a:r>
          </a:p>
          <a:p>
            <a:pPr marL="342900" indent="-342900">
              <a:spcAft>
                <a:spcPts val="15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700">
                <a:solidFill>
                  <a:srgbClr val="1A3C34"/>
                </a:solidFill>
                <a:latin typeface="Segoe UI" panose="020B0502040204020203" pitchFamily="34" charset="0"/>
              </a:rPr>
              <a:t>It supports memory, medicine, daily routines and everyday communication.</a:t>
            </a:r>
          </a:p>
          <a:p>
            <a:pPr marL="342900" indent="-342900">
              <a:spcAft>
                <a:spcPts val="15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700">
                <a:solidFill>
                  <a:srgbClr val="1A3C34"/>
                </a:solidFill>
                <a:latin typeface="Segoe UI" panose="020B0502040204020203" pitchFamily="34" charset="0"/>
              </a:rPr>
              <a:t>Future work:  a mobile application for easier daily use.</a:t>
            </a:r>
          </a:p>
          <a:p>
            <a:pPr marL="342900" indent="-342900">
              <a:spcAft>
                <a:spcPts val="15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700">
                <a:solidFill>
                  <a:srgbClr val="1A3C34"/>
                </a:solidFill>
                <a:latin typeface="Segoe UI" panose="020B0502040204020203" pitchFamily="34" charset="0"/>
              </a:rPr>
              <a:t>Future work:  support for more regional languages.</a:t>
            </a:r>
          </a:p>
          <a:p>
            <a:pPr marL="342900" indent="-342900">
              <a:spcAft>
                <a:spcPts val="15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700">
                <a:solidFill>
                  <a:srgbClr val="1A3C34"/>
                </a:solidFill>
                <a:latin typeface="Segoe UI" panose="020B0502040204020203" pitchFamily="34" charset="0"/>
              </a:rPr>
              <a:t>Future work:  a smarter assistant with wider understanding.</a:t>
            </a:r>
            <a:endParaRPr lang="en-PK" sz="1700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3153BF10-D7E5-F9D6-3397-BBE4D2AB9DB7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0E5B1AD2-6971-52B8-6F89-DD3DD80B8683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52449E7B-328D-4759-A1EA-C0938D40FCC2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39087440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B3CC1AAD-A324-41A7-21E9-8522737BDC3B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D2599B7A-A94B-C084-1E4B-58014848142B}"/>
              </a:ext>
            </a:extLst>
          </p:cNvPr>
          <p:cNvSpPr txBox="1"/>
          <p:nvPr/>
        </p:nvSpPr>
        <p:spPr>
          <a:xfrm>
            <a:off x="812800" y="508000"/>
            <a:ext cx="1056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Segoe UI" panose="020B0502040204020203" pitchFamily="34" charset="0"/>
              </a:rPr>
              <a:t>IMPLEMENTATION</a:t>
            </a:r>
            <a:endParaRPr lang="en-PK" sz="10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DFFD9CA0-A657-84D9-5EBB-03F9E9D4B68D}"/>
              </a:ext>
            </a:extLst>
          </p:cNvPr>
          <p:cNvSpPr txBox="1"/>
          <p:nvPr/>
        </p:nvSpPr>
        <p:spPr>
          <a:xfrm>
            <a:off x="812800" y="736600"/>
            <a:ext cx="10566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C34"/>
                </a:solidFill>
                <a:latin typeface="Segoe UI" panose="020B0502040204020203" pitchFamily="34" charset="0"/>
              </a:rPr>
              <a:t>References</a:t>
            </a:r>
            <a:endParaRPr lang="en-PK" sz="2900" b="1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CD7379FE-3B0A-622C-CBA6-89E4EA275CA3}"/>
              </a:ext>
            </a:extLst>
          </p:cNvPr>
          <p:cNvSpPr/>
          <p:nvPr/>
        </p:nvSpPr>
        <p:spPr>
          <a:xfrm>
            <a:off x="812800" y="1320800"/>
            <a:ext cx="6604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8607C604-C878-A52D-F6A0-1C87D0A61BF7}"/>
              </a:ext>
            </a:extLst>
          </p:cNvPr>
          <p:cNvSpPr txBox="1"/>
          <p:nvPr/>
        </p:nvSpPr>
        <p:spPr>
          <a:xfrm>
            <a:off x="812800" y="1600200"/>
            <a:ext cx="10566400" cy="16235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15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700">
                <a:solidFill>
                  <a:srgbClr val="1A3C34"/>
                </a:solidFill>
                <a:latin typeface="Segoe UI" panose="020B0502040204020203" pitchFamily="34" charset="0"/>
              </a:rPr>
              <a:t>Larman, C.  Applying UML and Patterns.  Third Edition.</a:t>
            </a:r>
          </a:p>
          <a:p>
            <a:pPr marL="342900" indent="-342900">
              <a:spcAft>
                <a:spcPts val="15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700">
                <a:solidFill>
                  <a:srgbClr val="1A3C34"/>
                </a:solidFill>
                <a:latin typeface="Segoe UI" panose="020B0502040204020203" pitchFamily="34" charset="0"/>
              </a:rPr>
              <a:t>Connolly, T. and Begg, C.  Database Systems:  A Practical Approach.</a:t>
            </a:r>
          </a:p>
          <a:p>
            <a:pPr marL="342900" indent="-342900">
              <a:spcAft>
                <a:spcPts val="15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700">
                <a:solidFill>
                  <a:srgbClr val="1A3C34"/>
                </a:solidFill>
                <a:latin typeface="Segoe UI" panose="020B0502040204020203" pitchFamily="34" charset="0"/>
              </a:rPr>
              <a:t>Official documentation:  Next.js, Express, MongoDB, face-api.js and Wit.ai.</a:t>
            </a:r>
          </a:p>
          <a:p>
            <a:pPr marL="342900" indent="-342900">
              <a:spcAft>
                <a:spcPts val="1500"/>
              </a:spcAft>
              <a:buClr>
                <a:srgbClr val="0D9488"/>
              </a:buClr>
              <a:buSzPct val="85000"/>
              <a:buFont typeface="+mj-lt"/>
              <a:buChar char="▪"/>
            </a:pPr>
            <a:r>
              <a:rPr lang="en-US" sz="1700">
                <a:solidFill>
                  <a:srgbClr val="1A3C34"/>
                </a:solidFill>
                <a:latin typeface="Segoe UI" panose="020B0502040204020203" pitchFamily="34" charset="0"/>
              </a:rPr>
              <a:t>The complete reference list is given in the thesis document.</a:t>
            </a:r>
            <a:endParaRPr lang="en-PK" sz="1700">
              <a:solidFill>
                <a:srgbClr val="1A3C3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47231C4-5C37-F161-60B0-E65D79F8C962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C4D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CEE944D6-922D-B2F5-2B5C-45BF61DCE50B}"/>
              </a:ext>
            </a:extLst>
          </p:cNvPr>
          <p:cNvSpPr txBox="1"/>
          <p:nvPr/>
        </p:nvSpPr>
        <p:spPr>
          <a:xfrm>
            <a:off x="8128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A6964"/>
                </a:solidFill>
                <a:latin typeface="Segoe UI" panose="020B0502040204020203" pitchFamily="34" charset="0"/>
              </a:rPr>
              <a:t>MemoryCare   |   Final Year Project</a:t>
            </a:r>
            <a:endParaRPr lang="en-PK" sz="900">
              <a:solidFill>
                <a:srgbClr val="5A696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9BE3168A-0225-5F9A-7365-5BE182E02454}"/>
              </a:ext>
            </a:extLst>
          </p:cNvPr>
          <p:cNvSpPr txBox="1"/>
          <p:nvPr/>
        </p:nvSpPr>
        <p:spPr>
          <a:xfrm>
            <a:off x="10617200" y="64262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PK" sz="900">
                <a:solidFill>
                  <a:srgbClr val="5A6964"/>
                </a:solidFill>
                <a:latin typeface="Segoe UI" panose="020B0502040204020203" pitchFamily="34" charset="0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7142591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892CE8C6-026C-EB81-CCD0-1BEFEAFEC1D5}"/>
              </a:ext>
            </a:extLst>
          </p:cNvPr>
          <p:cNvSpPr txBox="1"/>
          <p:nvPr/>
        </p:nvSpPr>
        <p:spPr>
          <a:xfrm>
            <a:off x="0" y="2667000"/>
            <a:ext cx="121920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4600" b="1">
                <a:solidFill>
                  <a:srgbClr val="FFFFFF"/>
                </a:solidFill>
                <a:latin typeface="Segoe UI" panose="020B0502040204020203" pitchFamily="34" charset="0"/>
              </a:rPr>
              <a:t>Thank You</a:t>
            </a:r>
            <a:endParaRPr lang="en-PK" sz="46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BA4E55D5-C857-A6EE-953D-BD36E27D995E}"/>
              </a:ext>
            </a:extLst>
          </p:cNvPr>
          <p:cNvSpPr/>
          <p:nvPr/>
        </p:nvSpPr>
        <p:spPr>
          <a:xfrm>
            <a:off x="5765800" y="3581400"/>
            <a:ext cx="660400" cy="381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73964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2459</Words>
  <Application>Microsoft Office PowerPoint</Application>
  <PresentationFormat>Widescreen</PresentationFormat>
  <Paragraphs>379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Zoha Shahzad</dc:creator>
  <cp:lastModifiedBy>Microsoft account</cp:lastModifiedBy>
  <cp:revision>14</cp:revision>
  <dcterms:created xsi:type="dcterms:W3CDTF">2026-08-26T19:31:52Z</dcterms:created>
  <dcterms:modified xsi:type="dcterms:W3CDTF">2026-08-27T03:51:51Z</dcterms:modified>
</cp:coreProperties>
</file>